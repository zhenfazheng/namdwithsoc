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2" r:id="rId1"/>
    <p:sldMasterId id="2147483865" r:id="rId2"/>
  </p:sldMasterIdLst>
  <p:notesMasterIdLst>
    <p:notesMasterId r:id="rId22"/>
  </p:notesMasterIdLst>
  <p:sldIdLst>
    <p:sldId id="256" r:id="rId3"/>
    <p:sldId id="463" r:id="rId4"/>
    <p:sldId id="460" r:id="rId5"/>
    <p:sldId id="461" r:id="rId6"/>
    <p:sldId id="462" r:id="rId7"/>
    <p:sldId id="444" r:id="rId8"/>
    <p:sldId id="470" r:id="rId9"/>
    <p:sldId id="469" r:id="rId10"/>
    <p:sldId id="471" r:id="rId11"/>
    <p:sldId id="472" r:id="rId12"/>
    <p:sldId id="474" r:id="rId13"/>
    <p:sldId id="473" r:id="rId14"/>
    <p:sldId id="476" r:id="rId15"/>
    <p:sldId id="477" r:id="rId16"/>
    <p:sldId id="464" r:id="rId17"/>
    <p:sldId id="465" r:id="rId18"/>
    <p:sldId id="466" r:id="rId19"/>
    <p:sldId id="458" r:id="rId20"/>
    <p:sldId id="47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aolei" initials="w" lastIdx="1" clrIdx="0">
    <p:extLst>
      <p:ext uri="{19B8F6BF-5375-455C-9EA6-DF929625EA0E}">
        <p15:presenceInfo xmlns:p15="http://schemas.microsoft.com/office/powerpoint/2012/main" userId="wangaole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CFD"/>
    <a:srgbClr val="F9F7FF"/>
    <a:srgbClr val="F7F7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2" autoAdjust="0"/>
    <p:restoredTop sz="84743" autoAdjust="0"/>
  </p:normalViewPr>
  <p:slideViewPr>
    <p:cSldViewPr snapToGrid="0">
      <p:cViewPr varScale="1">
        <p:scale>
          <a:sx n="105" d="100"/>
          <a:sy n="105" d="100"/>
        </p:scale>
        <p:origin x="22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AC749-4FB1-4504-8A01-4799D4DFEFF9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8296D-1E8C-4FA1-8ED8-C999B297FE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1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37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/>
              <a:t>程序采用含时密度泛函理论结合最小面跳跃方法。对于含时的薛定谔方程，我们将电子部分的波函数用单粒子的</a:t>
            </a:r>
            <a:r>
              <a:rPr lang="en-US" altLang="zh-CN" sz="1800" dirty="0"/>
              <a:t>Kohn-Sham</a:t>
            </a:r>
            <a:r>
              <a:rPr lang="zh-CN" altLang="en-US" sz="1800" dirty="0"/>
              <a:t>轨道进行展开，得到系数的演化方程，其中</a:t>
            </a:r>
            <a:r>
              <a:rPr lang="en-US" altLang="zh-CN" sz="1800" dirty="0" err="1"/>
              <a:t>Tjk</a:t>
            </a:r>
            <a:r>
              <a:rPr lang="zh-CN" altLang="en-US" sz="1800" dirty="0"/>
              <a:t>为非绝热耦合矢量。再结合最小面跳跃公式，我们可以看出非绝热耦合量和自旋轨道耦合对跳跃概率的影响，随后我们做了经典路劲近似做了玻尔兹曼因子修正。整个模拟流程是，先做一个结构优化，跑一个</a:t>
            </a:r>
            <a:r>
              <a:rPr lang="en-US" altLang="zh-CN" sz="1800" dirty="0"/>
              <a:t>NVT</a:t>
            </a:r>
            <a:r>
              <a:rPr lang="zh-CN" altLang="en-US" sz="1800" dirty="0"/>
              <a:t>和</a:t>
            </a:r>
            <a:r>
              <a:rPr lang="en-US" altLang="zh-CN" sz="1800" dirty="0"/>
              <a:t>NVE</a:t>
            </a:r>
            <a:r>
              <a:rPr lang="zh-CN" altLang="en-US" sz="1800" dirty="0"/>
              <a:t>的分子动力学，随后对于这条动力学轨迹每个结构做静态计算，得到波函数，再计算非绝热耦合量</a:t>
            </a:r>
            <a:r>
              <a:rPr lang="en-US" altLang="zh-CN" sz="1800" dirty="0"/>
              <a:t>T</a:t>
            </a:r>
            <a:r>
              <a:rPr lang="zh-CN" altLang="en-US" sz="1800" dirty="0"/>
              <a:t>和</a:t>
            </a:r>
            <a:r>
              <a:rPr lang="en-US" altLang="zh-CN" sz="1800" dirty="0"/>
              <a:t>SOC</a:t>
            </a:r>
            <a:r>
              <a:rPr lang="zh-CN" altLang="en-US" sz="1800" dirty="0"/>
              <a:t>，之后跑</a:t>
            </a:r>
            <a:r>
              <a:rPr lang="en-US" altLang="zh-CN" sz="1800" dirty="0"/>
              <a:t>NAMD</a:t>
            </a:r>
            <a:r>
              <a:rPr lang="zh-CN" altLang="en-US" sz="1800" dirty="0"/>
              <a:t>软件包。详细内容后面会说明。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803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接下来我们详细讲解一下程序的理论部分。对于带自旋波函数的展开形式有俩种。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957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对于波函数展开基组的形式，我们可以分为俩种表象，首先是自旋透热表象。我们将电子波函数分为上下自旋进行展开，用</a:t>
            </a:r>
            <a:r>
              <a:rPr lang="en-US" altLang="zh-CN" dirty="0"/>
              <a:t>epsilon_{n}</a:t>
            </a:r>
            <a:r>
              <a:rPr lang="zh-CN" altLang="en-US" dirty="0"/>
              <a:t>表示</a:t>
            </a:r>
            <a:r>
              <a:rPr lang="en-US" altLang="zh-CN" dirty="0"/>
              <a:t>H0</a:t>
            </a:r>
            <a:r>
              <a:rPr lang="zh-CN" altLang="en-US" dirty="0"/>
              <a:t>的本征值，带入含时薛定谔方程中。我们可以得到如下的系数演化方程。这个系数矩阵元一共是</a:t>
            </a:r>
            <a:r>
              <a:rPr lang="en-US" altLang="zh-CN" dirty="0"/>
              <a:t>4</a:t>
            </a:r>
            <a:r>
              <a:rPr lang="zh-CN" altLang="en-US" dirty="0"/>
              <a:t>块，对角的俩块代表同自旋态之间的耦合，非对角块代表不同自旋态之间的耦合。我们可以发现同自旋态之间的耦合有</a:t>
            </a:r>
            <a:r>
              <a:rPr lang="en-US" altLang="zh-CN" dirty="0"/>
              <a:t>SOC</a:t>
            </a:r>
            <a:r>
              <a:rPr lang="zh-CN" altLang="en-US" dirty="0"/>
              <a:t>和</a:t>
            </a:r>
            <a:r>
              <a:rPr lang="en-US" altLang="zh-CN" dirty="0"/>
              <a:t>NAC</a:t>
            </a:r>
            <a:r>
              <a:rPr lang="zh-CN" altLang="en-US" dirty="0"/>
              <a:t>，但是不同自旋态之间只有</a:t>
            </a:r>
            <a:r>
              <a:rPr lang="en-US" altLang="zh-CN" dirty="0"/>
              <a:t>SOC</a:t>
            </a:r>
            <a:r>
              <a:rPr lang="zh-CN" altLang="en-US" dirty="0"/>
              <a:t>。意味着在这个表象中，电子在不同自旋之间的翻转完全由</a:t>
            </a:r>
            <a:r>
              <a:rPr lang="en-US" altLang="zh-CN" dirty="0"/>
              <a:t>SOC</a:t>
            </a:r>
            <a:r>
              <a:rPr lang="zh-CN" altLang="en-US" dirty="0"/>
              <a:t>决定。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43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接下来我们看第二种表象，自旋绝热表象。在这个表象中，电子波函数按照</a:t>
            </a:r>
            <a:r>
              <a:rPr lang="en-US" altLang="zh-CN" dirty="0"/>
              <a:t>spinor</a:t>
            </a:r>
            <a:r>
              <a:rPr lang="zh-CN" altLang="en-US" dirty="0"/>
              <a:t>基组也就是自旋混合态展开。用</a:t>
            </a:r>
            <a:r>
              <a:rPr lang="en-US" altLang="zh-CN" dirty="0"/>
              <a:t>epsilon_{n}</a:t>
            </a:r>
            <a:r>
              <a:rPr lang="zh-CN" altLang="en-US" dirty="0"/>
              <a:t>表示</a:t>
            </a:r>
            <a:r>
              <a:rPr lang="en-US" altLang="zh-CN" dirty="0"/>
              <a:t>H0</a:t>
            </a:r>
            <a:r>
              <a:rPr lang="zh-CN" altLang="en-US" dirty="0"/>
              <a:t>与</a:t>
            </a:r>
            <a:r>
              <a:rPr lang="en-US" altLang="zh-CN" dirty="0" err="1"/>
              <a:t>Hsoc</a:t>
            </a:r>
            <a:r>
              <a:rPr lang="zh-CN" altLang="en-US" dirty="0"/>
              <a:t>的本征值，带入含时薛定谔方程中。我们可以得到如下的系数演化方程。注意，这边没有</a:t>
            </a:r>
            <a:r>
              <a:rPr lang="en-US" altLang="zh-CN" dirty="0"/>
              <a:t>SOC</a:t>
            </a:r>
            <a:r>
              <a:rPr lang="zh-CN" altLang="en-US" dirty="0"/>
              <a:t>矩阵元，因为</a:t>
            </a:r>
            <a:r>
              <a:rPr lang="en-US" altLang="zh-CN" dirty="0"/>
              <a:t>SOC</a:t>
            </a:r>
            <a:r>
              <a:rPr lang="zh-CN" altLang="en-US" dirty="0"/>
              <a:t>效应已经包含在</a:t>
            </a:r>
            <a:r>
              <a:rPr lang="en-US" altLang="zh-CN" dirty="0" err="1"/>
              <a:t>Tjk</a:t>
            </a:r>
            <a:r>
              <a:rPr lang="zh-CN" altLang="en-US" dirty="0"/>
              <a:t>以及对角巷</a:t>
            </a:r>
            <a:r>
              <a:rPr lang="en-US" altLang="zh-CN" dirty="0"/>
              <a:t>epsilon_{n}</a:t>
            </a:r>
            <a:r>
              <a:rPr lang="zh-CN" altLang="en-US" dirty="0"/>
              <a:t>中了。同时这里没有自旋上下的概念，这种基组可以直接对接基础班的</a:t>
            </a:r>
            <a:r>
              <a:rPr lang="en-US" altLang="zh-CN" dirty="0"/>
              <a:t>Hefei-NAMD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77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/>
              <a:t>那么在</a:t>
            </a:r>
            <a:r>
              <a:rPr lang="en-US" altLang="zh-CN" sz="1800" dirty="0"/>
              <a:t>DFT</a:t>
            </a:r>
            <a:r>
              <a:rPr lang="zh-CN" altLang="en-US" sz="1800" dirty="0"/>
              <a:t>中</a:t>
            </a:r>
            <a:r>
              <a:rPr lang="en-US" altLang="zh-CN" sz="1800" dirty="0"/>
              <a:t>SOC</a:t>
            </a:r>
            <a:r>
              <a:rPr lang="zh-CN" altLang="en-US" sz="1800" dirty="0"/>
              <a:t>矩阵元的具体形式如何呢？我们写出</a:t>
            </a:r>
            <a:r>
              <a:rPr lang="en-US" altLang="zh-CN" sz="1800" dirty="0"/>
              <a:t>SOC</a:t>
            </a:r>
            <a:r>
              <a:rPr lang="zh-CN" altLang="en-US" sz="1800" dirty="0"/>
              <a:t>的哈密顿量的一般形式，由于</a:t>
            </a:r>
            <a:r>
              <a:rPr lang="en-US" altLang="zh-CN" sz="1800" dirty="0"/>
              <a:t>SOC</a:t>
            </a:r>
            <a:r>
              <a:rPr lang="zh-CN" altLang="en-US" sz="1800" dirty="0"/>
              <a:t>中的势能梯度项在原子核区域有很大的值，掩波函数描述不准确，需要使用包含核区的全电子波函数。在</a:t>
            </a:r>
            <a:r>
              <a:rPr lang="en-US" altLang="zh-CN" sz="1800" dirty="0"/>
              <a:t>VASP</a:t>
            </a:r>
            <a:r>
              <a:rPr lang="zh-CN" altLang="en-US" sz="1800" dirty="0"/>
              <a:t>中，我们将全电子波函数用平面波基组展开。那么</a:t>
            </a:r>
            <a:r>
              <a:rPr lang="en-US" altLang="zh-CN" sz="1800" dirty="0"/>
              <a:t>SOC</a:t>
            </a:r>
            <a:r>
              <a:rPr lang="zh-CN" altLang="en-US" sz="1800" dirty="0"/>
              <a:t>的矩阵元通过投影波函数的方法，主要可以表示成蓝色的这一项。蓝色的这一项可以从</a:t>
            </a:r>
            <a:r>
              <a:rPr lang="en-US" altLang="zh-CN" sz="1800" dirty="0"/>
              <a:t>VASP</a:t>
            </a:r>
            <a:r>
              <a:rPr lang="zh-CN" altLang="en-US" sz="1800" dirty="0"/>
              <a:t>计算得到。计算上我们可以先做一个不考虑</a:t>
            </a:r>
            <a:r>
              <a:rPr lang="en-US" altLang="zh-CN" sz="1800" dirty="0"/>
              <a:t>SOC</a:t>
            </a:r>
            <a:r>
              <a:rPr lang="zh-CN" altLang="en-US" sz="1800" dirty="0"/>
              <a:t>的自洽计算，之后考虑</a:t>
            </a:r>
            <a:r>
              <a:rPr lang="en-US" altLang="zh-CN" sz="1800" dirty="0"/>
              <a:t>SOC</a:t>
            </a:r>
            <a:r>
              <a:rPr lang="zh-CN" altLang="en-US" sz="1800" dirty="0"/>
              <a:t>项并进行对角化来得到哈密顿量本征值。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32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工作流程与基础班的</a:t>
            </a:r>
            <a:r>
              <a:rPr lang="en-US" altLang="zh-CN" dirty="0"/>
              <a:t>Hefei-NAMD</a:t>
            </a:r>
            <a:r>
              <a:rPr lang="zh-CN" altLang="en-US" dirty="0"/>
              <a:t>差不多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61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MD</a:t>
            </a:r>
            <a:r>
              <a:rPr lang="zh-CN" altLang="en-US" dirty="0"/>
              <a:t>的过程，这里强调俩个点。</a:t>
            </a:r>
            <a:endParaRPr lang="en-US" altLang="zh-CN" dirty="0"/>
          </a:p>
          <a:p>
            <a:r>
              <a:rPr lang="zh-CN" altLang="en-US" dirty="0"/>
              <a:t>超胞折叠；</a:t>
            </a:r>
            <a:endParaRPr lang="en-US" altLang="zh-CN" dirty="0"/>
          </a:p>
          <a:p>
            <a:r>
              <a:rPr lang="en-US" altLang="zh-CN" dirty="0"/>
              <a:t>NVT</a:t>
            </a:r>
            <a:r>
              <a:rPr lang="zh-CN" altLang="en-US" dirty="0"/>
              <a:t>判断收敛性的判断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71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SOC</a:t>
            </a:r>
            <a:r>
              <a:rPr lang="zh-CN" altLang="en-US" dirty="0"/>
              <a:t>之前，需要先编译一下如果编译</a:t>
            </a:r>
            <a:r>
              <a:rPr lang="en-US" altLang="zh-CN" dirty="0" err="1"/>
              <a:t>vasp_soc</a:t>
            </a:r>
            <a:r>
              <a:rPr lang="zh-CN" altLang="en-US" dirty="0"/>
              <a:t>以及带</a:t>
            </a:r>
            <a:r>
              <a:rPr lang="en-US" altLang="zh-CN" dirty="0"/>
              <a:t>SOC</a:t>
            </a:r>
            <a:r>
              <a:rPr lang="zh-CN" altLang="en-US" dirty="0"/>
              <a:t>的</a:t>
            </a:r>
            <a:r>
              <a:rPr lang="en-US" altLang="zh-CN" dirty="0"/>
              <a:t>Hefei-NAMD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62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接下来我们用</a:t>
            </a:r>
            <a:r>
              <a:rPr lang="en-US" altLang="zh-CN" dirty="0"/>
              <a:t>Ni</a:t>
            </a:r>
            <a:r>
              <a:rPr lang="zh-CN" altLang="en-US" dirty="0"/>
              <a:t>金属体系作为例子，说明一下考虑</a:t>
            </a:r>
            <a:r>
              <a:rPr lang="en-US" altLang="zh-CN" dirty="0"/>
              <a:t>soc</a:t>
            </a:r>
            <a:r>
              <a:rPr lang="zh-CN" altLang="en-US" dirty="0"/>
              <a:t>情况下</a:t>
            </a:r>
            <a:r>
              <a:rPr lang="en-US" altLang="zh-CN" dirty="0"/>
              <a:t>INCAR</a:t>
            </a:r>
            <a:r>
              <a:rPr lang="zh-CN" altLang="en-US" dirty="0"/>
              <a:t>如何设置。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17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接下来我们讲一下</a:t>
            </a:r>
            <a:r>
              <a:rPr lang="en-US" altLang="zh-CN" dirty="0"/>
              <a:t>NAMD</a:t>
            </a:r>
            <a:r>
              <a:rPr lang="zh-CN" altLang="en-US" dirty="0"/>
              <a:t>流程。我们对</a:t>
            </a:r>
            <a:r>
              <a:rPr lang="en-US" altLang="zh-CN" dirty="0"/>
              <a:t>md</a:t>
            </a:r>
            <a:r>
              <a:rPr lang="zh-CN" altLang="en-US" dirty="0"/>
              <a:t>轨迹做静态计算，如果是自旋透热表象，</a:t>
            </a:r>
            <a:r>
              <a:rPr lang="en-US" altLang="zh-CN" dirty="0"/>
              <a:t>xxx</a:t>
            </a:r>
            <a:r>
              <a:rPr lang="zh-CN" altLang="en-US" dirty="0"/>
              <a:t>。如果是自旋绝热表象，</a:t>
            </a:r>
            <a:r>
              <a:rPr lang="en-US" altLang="zh-CN" dirty="0"/>
              <a:t>xxx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66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526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899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891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724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091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598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504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31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35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50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35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20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defRPr>
            </a:lvl4pPr>
            <a:lvl5pPr>
              <a:defRPr sz="1200" baseline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73826" y="6544354"/>
            <a:ext cx="1265468" cy="275545"/>
          </a:xfrm>
          <a:prstGeom prst="rect">
            <a:avLst/>
          </a:prstGeom>
        </p:spPr>
        <p:txBody>
          <a:bodyPr/>
          <a:lstStyle>
            <a:lvl1pPr algn="ctr">
              <a:defRPr sz="1050" i="0" u="none">
                <a:solidFill>
                  <a:srgbClr val="0546A5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l"/>
            <a:fld id="{69BEC4A1-C22C-B247-A1F3-48F5DE029ADC}" type="datetime1">
              <a:rPr lang="zh-CN" altLang="en-US" smtClean="0"/>
              <a:t>2025/6/5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1449" y="6544354"/>
            <a:ext cx="1902279" cy="275545"/>
          </a:xfrm>
          <a:prstGeom prst="rect">
            <a:avLst/>
          </a:prstGeom>
        </p:spPr>
        <p:txBody>
          <a:bodyPr/>
          <a:lstStyle>
            <a:lvl1pPr>
              <a:defRPr sz="1050" u="none">
                <a:solidFill>
                  <a:srgbClr val="0546A5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5543" y="6544356"/>
            <a:ext cx="595418" cy="275545"/>
          </a:xfrm>
          <a:prstGeom prst="rect">
            <a:avLst/>
          </a:prstGeom>
        </p:spPr>
        <p:txBody>
          <a:bodyPr/>
          <a:lstStyle>
            <a:lvl1pPr>
              <a:defRPr sz="1050" u="none">
                <a:solidFill>
                  <a:srgbClr val="0546A5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r"/>
            <a:fld id="{7E3FF5B2-BD34-4CA6-ACC8-C78459CF6226}" type="slidenum">
              <a:rPr lang="zh-CN" altLang="en-US" smtClean="0"/>
              <a:pPr algn="r"/>
              <a:t>‹#›</a:t>
            </a:fld>
            <a:r>
              <a:rPr lang="en-US" altLang="zh-CN" dirty="0"/>
              <a:t>/37</a:t>
            </a:r>
            <a:endParaRPr lang="zh-CN" alt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BADE2AC-76B4-4A41-91B0-C2D00989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61" y="81644"/>
            <a:ext cx="8615794" cy="424542"/>
          </a:xfrm>
        </p:spPr>
        <p:txBody>
          <a:bodyPr>
            <a:noAutofit/>
          </a:bodyPr>
          <a:lstStyle>
            <a:lvl1pPr>
              <a:defRPr sz="195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B0FF5A9-B620-4198-AC04-F26D7C513556}"/>
              </a:ext>
            </a:extLst>
          </p:cNvPr>
          <p:cNvSpPr txBox="1">
            <a:spLocks/>
          </p:cNvSpPr>
          <p:nvPr userDrawn="1"/>
        </p:nvSpPr>
        <p:spPr>
          <a:xfrm>
            <a:off x="3884159" y="6544355"/>
            <a:ext cx="1375682" cy="27554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u="none" kern="1200">
                <a:solidFill>
                  <a:srgbClr val="0546A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7B5A99F-B800-4FA3-ADAB-3BD40E16D7C6}"/>
              </a:ext>
            </a:extLst>
          </p:cNvPr>
          <p:cNvCxnSpPr>
            <a:cxnSpLocks/>
          </p:cNvCxnSpPr>
          <p:nvPr userDrawn="1"/>
        </p:nvCxnSpPr>
        <p:spPr>
          <a:xfrm flipH="1">
            <a:off x="219861" y="6477000"/>
            <a:ext cx="8801100" cy="0"/>
          </a:xfrm>
          <a:prstGeom prst="line">
            <a:avLst/>
          </a:prstGeom>
          <a:ln w="76200" cap="flat" cmpd="sng">
            <a:gradFill flip="none" rotWithShape="1">
              <a:gsLst>
                <a:gs pos="0">
                  <a:srgbClr val="0546A5"/>
                </a:gs>
                <a:gs pos="20000">
                  <a:srgbClr val="0546A5"/>
                </a:gs>
                <a:gs pos="100000">
                  <a:srgbClr val="0546A5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08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CB60-3738-1A4B-8A31-FCC7F52AC9B7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5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ABDBDEC7-D915-444E-9E41-B55DAF09488F}" type="datetime1">
              <a:rPr lang="zh-CN" altLang="en-US" smtClean="0"/>
              <a:t>2025/6/5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7E3FF5B2-BD34-4CA6-ACC8-C78459CF6226}" type="slidenum">
              <a:rPr lang="zh-CN" altLang="en-US" smtClean="0"/>
              <a:pPr algn="r"/>
              <a:t>‹#›</a:t>
            </a:fld>
            <a:r>
              <a:rPr lang="en-US" altLang="zh-CN"/>
              <a:t>/37</a:t>
            </a:r>
            <a:endParaRPr lang="zh-CN" alt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F3250E3-C72C-44AE-92A6-6AB076DDA785}"/>
              </a:ext>
            </a:extLst>
          </p:cNvPr>
          <p:cNvSpPr txBox="1">
            <a:spLocks/>
          </p:cNvSpPr>
          <p:nvPr userDrawn="1"/>
        </p:nvSpPr>
        <p:spPr>
          <a:xfrm>
            <a:off x="3884159" y="6544355"/>
            <a:ext cx="1375682" cy="27554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u="none" kern="1200">
                <a:solidFill>
                  <a:srgbClr val="0546A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66E002-FB7F-49CD-B5DC-B740DC8E9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9861" y="6477000"/>
            <a:ext cx="8801100" cy="0"/>
          </a:xfrm>
          <a:prstGeom prst="line">
            <a:avLst/>
          </a:prstGeom>
          <a:ln w="76200" cap="flat" cmpd="sng">
            <a:gradFill flip="none" rotWithShape="1">
              <a:gsLst>
                <a:gs pos="0">
                  <a:srgbClr val="0546A5"/>
                </a:gs>
                <a:gs pos="20000">
                  <a:srgbClr val="0546A5"/>
                </a:gs>
                <a:gs pos="100000">
                  <a:srgbClr val="0546A5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953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C30D-44BF-F846-B2D2-061C718BF047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4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FEEB-82EE-6E48-B5D2-1C6064E645DA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0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3FE63-D38B-9644-8D53-94EEA8E8E8D7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4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26824-ED26-9A43-ADFE-FD70D3BD345D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05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F532-4A37-074F-A09A-1050E6C222CC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7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6585-202B-9A45-88B4-72AAC2834C23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60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8783-AAA7-9940-93B5-36557EF38B83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298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45CCA-79F2-8F44-BDC6-47EB4849AE05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70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210EE-8C9F-CA4D-AA8A-E632BE4DBD99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6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520" y="143539"/>
            <a:ext cx="7886700" cy="324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8" name="直接连接符 7"/>
          <p:cNvCxnSpPr>
            <a:cxnSpLocks/>
          </p:cNvCxnSpPr>
          <p:nvPr userDrawn="1"/>
        </p:nvCxnSpPr>
        <p:spPr>
          <a:xfrm>
            <a:off x="118382" y="601249"/>
            <a:ext cx="8907236" cy="0"/>
          </a:xfrm>
          <a:prstGeom prst="line">
            <a:avLst/>
          </a:prstGeom>
          <a:ln w="76200" cap="flat" cmpd="sng">
            <a:gradFill flip="none" rotWithShape="1">
              <a:gsLst>
                <a:gs pos="0">
                  <a:srgbClr val="0546A5"/>
                </a:gs>
                <a:gs pos="20000">
                  <a:srgbClr val="0546A5"/>
                </a:gs>
                <a:gs pos="100000">
                  <a:srgbClr val="0546A5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20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41E08-4D63-7A46-B9F0-425CDC816C27}" type="datetime1">
              <a:rPr lang="zh-CN" altLang="en-US" smtClean="0"/>
              <a:t>2025/6/5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008B896-4FF6-478B-A89C-0F964AF2F2B8}"/>
              </a:ext>
            </a:extLst>
          </p:cNvPr>
          <p:cNvCxnSpPr>
            <a:cxnSpLocks/>
          </p:cNvCxnSpPr>
          <p:nvPr userDrawn="1"/>
        </p:nvCxnSpPr>
        <p:spPr>
          <a:xfrm>
            <a:off x="118382" y="601249"/>
            <a:ext cx="8907236" cy="0"/>
          </a:xfrm>
          <a:prstGeom prst="line">
            <a:avLst/>
          </a:prstGeom>
          <a:ln w="76200" cap="flat" cmpd="sng">
            <a:gradFill flip="none" rotWithShape="1">
              <a:gsLst>
                <a:gs pos="0">
                  <a:srgbClr val="0546A5"/>
                </a:gs>
                <a:gs pos="20000">
                  <a:srgbClr val="0546A5"/>
                </a:gs>
                <a:gs pos="100000">
                  <a:srgbClr val="0546A5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94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.gif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eibinChu/CA-NAC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oushare.com/video/videodetail/11720" TargetMode="External"/><Relationship Id="rId3" Type="http://schemas.openxmlformats.org/officeDocument/2006/relationships/hyperlink" Target="http://staff.ustc.edu.cn/~zhaojin" TargetMode="External"/><Relationship Id="rId7" Type="http://schemas.openxmlformats.org/officeDocument/2006/relationships/hyperlink" Target="http://staff.ustc.edu.cn/~zqj/posts/Hefei-NAMD-Trainin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bbs.koushare.com/" TargetMode="External"/><Relationship Id="rId5" Type="http://schemas.openxmlformats.org/officeDocument/2006/relationships/hyperlink" Target="https://github.com/QijingZheng/Hefei-NAMD" TargetMode="External"/><Relationship Id="rId4" Type="http://schemas.openxmlformats.org/officeDocument/2006/relationships/hyperlink" Target="https://hefei-namd.org/" TargetMode="External"/><Relationship Id="rId9" Type="http://schemas.openxmlformats.org/officeDocument/2006/relationships/hyperlink" Target="https://www.koushare.com/video/videodetail/117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CA82D-15E5-4C0E-AA8C-F79A7ECEA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91" y="1171020"/>
            <a:ext cx="8960304" cy="95624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4050" b="1" dirty="0">
                <a:solidFill>
                  <a:srgbClr val="0546A5"/>
                </a:solidFill>
                <a:latin typeface="+mn-ea"/>
                <a:ea typeface="+mn-ea"/>
              </a:rPr>
              <a:t>Hefei-NAMD SOC </a:t>
            </a:r>
            <a:r>
              <a:rPr lang="zh-CN" altLang="en-US" sz="4050" b="1" dirty="0">
                <a:solidFill>
                  <a:srgbClr val="0546A5"/>
                </a:solidFill>
                <a:latin typeface="+mn-ea"/>
                <a:ea typeface="+mn-ea"/>
              </a:rPr>
              <a:t>培训</a:t>
            </a:r>
            <a:endParaRPr lang="en-US" altLang="zh-CN" sz="1500" b="1" dirty="0">
              <a:solidFill>
                <a:srgbClr val="0546A5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2B100B-751E-4667-A2B3-E898B2158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89" y="4622367"/>
            <a:ext cx="8233682" cy="653017"/>
          </a:xfrm>
        </p:spPr>
        <p:txBody>
          <a:bodyPr/>
          <a:lstStyle/>
          <a:p>
            <a:r>
              <a:rPr lang="en-US" altLang="zh-CN" sz="1500" dirty="0" err="1">
                <a:ea typeface="微软雅黑" panose="020B0503020204020204" pitchFamily="34" charset="-122"/>
              </a:rPr>
              <a:t>Jinhong</a:t>
            </a:r>
            <a:r>
              <a:rPr lang="en-US" altLang="zh-CN" sz="1500" dirty="0">
                <a:ea typeface="微软雅黑" panose="020B0503020204020204" pitchFamily="34" charset="-122"/>
              </a:rPr>
              <a:t> Xu (</a:t>
            </a:r>
            <a:r>
              <a:rPr lang="zh-CN" altLang="en-US" sz="1500" dirty="0">
                <a:ea typeface="微软雅黑" panose="020B0503020204020204" pitchFamily="34" charset="-122"/>
              </a:rPr>
              <a:t>徐锦鸿</a:t>
            </a:r>
            <a:r>
              <a:rPr lang="en-US" altLang="zh-CN" sz="1500" dirty="0"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500" dirty="0">
                <a:ea typeface="微软雅黑" panose="020B0503020204020204" pitchFamily="34" charset="-122"/>
              </a:rPr>
              <a:t>Advisor: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Prof. </a:t>
            </a:r>
            <a:r>
              <a:rPr lang="en-US" altLang="zh-CN" sz="1500" dirty="0" err="1">
                <a:ea typeface="微软雅黑" panose="020B0503020204020204" pitchFamily="34" charset="-122"/>
              </a:rPr>
              <a:t>Jin</a:t>
            </a:r>
            <a:r>
              <a:rPr lang="en-US" altLang="zh-CN" sz="1500" dirty="0">
                <a:ea typeface="微软雅黑" panose="020B0503020204020204" pitchFamily="34" charset="-122"/>
              </a:rPr>
              <a:t> Zhao (</a:t>
            </a:r>
            <a:r>
              <a:rPr lang="zh-CN" altLang="en-US" sz="1500" dirty="0">
                <a:ea typeface="微软雅黑" panose="020B0503020204020204" pitchFamily="34" charset="-122"/>
              </a:rPr>
              <a:t>赵瑾</a:t>
            </a:r>
            <a:r>
              <a:rPr lang="en-US" altLang="zh-CN" sz="1500" dirty="0">
                <a:ea typeface="微软雅黑" panose="020B0503020204020204" pitchFamily="34" charset="-122"/>
              </a:rPr>
              <a:t>)</a:t>
            </a:r>
          </a:p>
          <a:p>
            <a:endParaRPr lang="en-US" altLang="zh-CN" sz="1500" dirty="0">
              <a:ea typeface="微软雅黑" panose="020B0503020204020204" pitchFamily="34" charset="-122"/>
            </a:endParaRP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4EBB7900-5FFC-4C8F-8C33-D3750AA6B402}"/>
              </a:ext>
            </a:extLst>
          </p:cNvPr>
          <p:cNvSpPr txBox="1">
            <a:spLocks/>
          </p:cNvSpPr>
          <p:nvPr/>
        </p:nvSpPr>
        <p:spPr>
          <a:xfrm>
            <a:off x="441090" y="5282714"/>
            <a:ext cx="8233682" cy="30937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spcBef>
                <a:spcPts val="750"/>
              </a:spcBef>
              <a:defRPr/>
            </a:pPr>
            <a:r>
              <a:rPr lang="en-US" altLang="zh-CN" sz="1500" dirty="0">
                <a:solidFill>
                  <a:srgbClr val="001144"/>
                </a:solidFill>
                <a:ea typeface="微软雅黑" panose="020B0503020204020204" pitchFamily="34" charset="-122"/>
              </a:rPr>
              <a:t>Department of Physics,</a:t>
            </a:r>
            <a:r>
              <a:rPr lang="zh-CN" altLang="en-US" sz="1500" dirty="0">
                <a:solidFill>
                  <a:srgbClr val="001144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001144"/>
                </a:solidFill>
                <a:ea typeface="微软雅黑" panose="020B0503020204020204" pitchFamily="34" charset="-122"/>
              </a:rPr>
              <a:t>University of Science and Technology of China</a:t>
            </a:r>
            <a:endParaRPr lang="zh-CN" altLang="en-US" sz="1500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120BFDAF-FA97-4083-B1C0-CB5EB90F23B4}"/>
              </a:ext>
            </a:extLst>
          </p:cNvPr>
          <p:cNvSpPr txBox="1">
            <a:spLocks/>
          </p:cNvSpPr>
          <p:nvPr/>
        </p:nvSpPr>
        <p:spPr>
          <a:xfrm>
            <a:off x="455157" y="5643595"/>
            <a:ext cx="8233682" cy="22269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spcBef>
                <a:spcPts val="750"/>
              </a:spcBef>
              <a:defRPr/>
            </a:pPr>
            <a:r>
              <a:rPr lang="en-US" altLang="zh-CN" sz="1500" dirty="0">
                <a:solidFill>
                  <a:srgbClr val="001144"/>
                </a:solidFill>
                <a:ea typeface="微软雅黑" panose="020B0503020204020204" pitchFamily="34" charset="-122"/>
              </a:rPr>
              <a:t>Jun. 5,</a:t>
            </a:r>
            <a:r>
              <a:rPr lang="zh-CN" altLang="en-US" sz="1500" dirty="0">
                <a:solidFill>
                  <a:srgbClr val="001144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001144"/>
                </a:solidFill>
                <a:ea typeface="微软雅黑" panose="020B0503020204020204" pitchFamily="34" charset="-122"/>
              </a:rPr>
              <a:t>2025</a:t>
            </a:r>
            <a:endParaRPr lang="zh-CN" altLang="en-US" sz="1500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pic>
        <p:nvPicPr>
          <p:cNvPr id="6" name="Picture 93" descr="Hefei-NAMD LOGO">
            <a:extLst>
              <a:ext uri="{FF2B5EF4-FFF2-40B4-BE49-F238E27FC236}">
                <a16:creationId xmlns:a16="http://schemas.microsoft.com/office/drawing/2014/main" id="{749C3356-0AE3-429A-A478-448097BA617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846" y="2334996"/>
            <a:ext cx="1409663" cy="187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FE8230-AD5A-4823-A12C-3D41FD6A9FC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83" r="245"/>
          <a:stretch/>
        </p:blipFill>
        <p:spPr>
          <a:xfrm>
            <a:off x="5566117" y="2419862"/>
            <a:ext cx="1639328" cy="167383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10EBA0-FD4B-BE9C-6730-1E42FFA7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82E6-B202-D24B-80FF-A887FB3CCEB3}" type="datetime1">
              <a:rPr lang="zh-CN" altLang="en-US" smtClean="0"/>
              <a:t>2025/6/5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2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16"/>
    </mc:Choice>
    <mc:Fallback xmlns="">
      <p:transition spd="slow" advTm="150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FSSH Combined with TDDFT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pPr algn="l"/>
            <a:fld id="{3D079C43-556E-634C-8DE8-55860BAAE704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DD0670C-12EE-40D6-BECB-D78B5E9F6FA2}"/>
              </a:ext>
            </a:extLst>
          </p:cNvPr>
          <p:cNvSpPr/>
          <p:nvPr/>
        </p:nvSpPr>
        <p:spPr>
          <a:xfrm>
            <a:off x="846342" y="1313908"/>
            <a:ext cx="1066772" cy="5333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tlCol="0" anchor="ctr">
            <a:spAutoFit/>
          </a:bodyPr>
          <a:lstStyle/>
          <a:p>
            <a:pPr marL="342900" indent="-342900" algn="ctr">
              <a:lnSpc>
                <a:spcPct val="150000"/>
              </a:lnSpc>
              <a:buFont typeface="Wingdings" panose="05000000000000000000" charset="0"/>
              <a:buChar char=""/>
            </a:pPr>
            <a:endParaRPr lang="zh-CN" altLang="en-US" b="1" dirty="0">
              <a:latin typeface="Calibri" panose="020F050202020403020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5EA065A-F966-43CA-B5DE-1E08570243F6}"/>
              </a:ext>
            </a:extLst>
          </p:cNvPr>
          <p:cNvSpPr txBox="1"/>
          <p:nvPr/>
        </p:nvSpPr>
        <p:spPr>
          <a:xfrm>
            <a:off x="265221" y="879430"/>
            <a:ext cx="4066412" cy="1323439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time-dependent Schrödinger equation</a:t>
            </a:r>
          </a:p>
          <a:p>
            <a:endParaRPr lang="en-US" altLang="zh-CN" baseline="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BB93E03-8945-406C-AF92-E3E2180FF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167098"/>
              </p:ext>
            </p:extLst>
          </p:nvPr>
        </p:nvGraphicFramePr>
        <p:xfrm>
          <a:off x="525571" y="1236071"/>
          <a:ext cx="368935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3689640" imgH="747360" progId="Equation.AxMath">
                  <p:embed/>
                </p:oleObj>
              </mc:Choice>
              <mc:Fallback>
                <p:oleObj name="AxMath" r:id="rId3" imgW="3689640" imgH="747360" progId="Equation.AxMath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446FE8A-9903-46DF-9880-44683A0502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571" y="1236071"/>
                        <a:ext cx="3689350" cy="74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10F36E0D-C8F2-47E3-B255-D7D516E88537}"/>
              </a:ext>
            </a:extLst>
          </p:cNvPr>
          <p:cNvSpPr txBox="1"/>
          <p:nvPr/>
        </p:nvSpPr>
        <p:spPr>
          <a:xfrm>
            <a:off x="2447284" y="2628355"/>
            <a:ext cx="3352712" cy="786343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446B6C6-5CCA-4F1A-8A76-E2B50FCB7E4D}"/>
              </a:ext>
            </a:extLst>
          </p:cNvPr>
          <p:cNvSpPr txBox="1"/>
          <p:nvPr/>
        </p:nvSpPr>
        <p:spPr>
          <a:xfrm>
            <a:off x="6740702" y="2622162"/>
            <a:ext cx="1594567" cy="786343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85C36C-ED64-4D3D-9050-C0183B78A654}"/>
              </a:ext>
            </a:extLst>
          </p:cNvPr>
          <p:cNvSpPr txBox="1"/>
          <p:nvPr/>
        </p:nvSpPr>
        <p:spPr>
          <a:xfrm>
            <a:off x="1690137" y="3633644"/>
            <a:ext cx="5255297" cy="800219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FSSH hopping probability</a:t>
            </a:r>
          </a:p>
          <a:p>
            <a:pPr algn="ctr"/>
            <a:endParaRPr lang="en-US" altLang="zh-CN" sz="14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aseline="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9D99619-0D38-4D27-82DC-C4665E59825C}"/>
              </a:ext>
            </a:extLst>
          </p:cNvPr>
          <p:cNvSpPr txBox="1"/>
          <p:nvPr/>
        </p:nvSpPr>
        <p:spPr>
          <a:xfrm>
            <a:off x="1695349" y="4846331"/>
            <a:ext cx="5257662" cy="830997"/>
          </a:xfrm>
          <a:prstGeom prst="rect">
            <a:avLst/>
          </a:prstGeom>
          <a:noFill/>
          <a:ln w="19050">
            <a:solidFill>
              <a:srgbClr val="7DED35"/>
            </a:solidFill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8C6BA965-61A0-475B-B547-7B10193D2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426307"/>
              </p:ext>
            </p:extLst>
          </p:nvPr>
        </p:nvGraphicFramePr>
        <p:xfrm>
          <a:off x="2675094" y="4875273"/>
          <a:ext cx="35147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3515400" imgH="772920" progId="Equation.AxMath">
                  <p:embed/>
                </p:oleObj>
              </mc:Choice>
              <mc:Fallback>
                <p:oleObj name="AxMath" r:id="rId5" imgW="3515400" imgH="772920" progId="Equation.AxMath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7CB32AA-A6E1-4177-A139-3E2CFD2456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5094" y="4875273"/>
                        <a:ext cx="3514725" cy="773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87ACF877-00F1-40C2-9AB4-9DDD2ACD2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602056"/>
              </p:ext>
            </p:extLst>
          </p:nvPr>
        </p:nvGraphicFramePr>
        <p:xfrm>
          <a:off x="1890827" y="3945995"/>
          <a:ext cx="47688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4769280" imgH="484920" progId="Equation.AxMath">
                  <p:embed/>
                </p:oleObj>
              </mc:Choice>
              <mc:Fallback>
                <p:oleObj name="AxMath" r:id="rId7" imgW="4769280" imgH="484920" progId="Equation.AxMath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66D77F6-82B5-4C1D-8162-8287A817A5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90827" y="3945995"/>
                        <a:ext cx="4768850" cy="48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4ABEC975-5F0B-4706-BDDB-1B241369E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609987"/>
              </p:ext>
            </p:extLst>
          </p:nvPr>
        </p:nvGraphicFramePr>
        <p:xfrm>
          <a:off x="2579796" y="2823027"/>
          <a:ext cx="30876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3087000" imgH="459360" progId="Equation.AxMath">
                  <p:embed/>
                </p:oleObj>
              </mc:Choice>
              <mc:Fallback>
                <p:oleObj name="AxMath" r:id="rId9" imgW="3087000" imgH="459360" progId="Equation.AxMath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A823D19-3BE4-4FD6-8EE2-643E1D4F69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79796" y="2823027"/>
                        <a:ext cx="3087688" cy="45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66F6FBCB-C5F2-43FD-9D25-8EE5CE220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194866"/>
              </p:ext>
            </p:extLst>
          </p:nvPr>
        </p:nvGraphicFramePr>
        <p:xfrm>
          <a:off x="6873214" y="2712421"/>
          <a:ext cx="13589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1359000" imgH="726480" progId="Equation.AxMath">
                  <p:embed/>
                </p:oleObj>
              </mc:Choice>
              <mc:Fallback>
                <p:oleObj name="AxMath" r:id="rId11" imgW="1359000" imgH="726480" progId="Equation.AxMath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FCCA581-C363-450A-9888-D4E363211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73214" y="2712421"/>
                        <a:ext cx="1358900" cy="72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EFDAE2A0-8D31-4B62-90AF-4D3E68A12C0F}"/>
              </a:ext>
            </a:extLst>
          </p:cNvPr>
          <p:cNvSpPr txBox="1"/>
          <p:nvPr/>
        </p:nvSpPr>
        <p:spPr>
          <a:xfrm>
            <a:off x="4331633" y="4522368"/>
            <a:ext cx="286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Classical-Path Approximation</a:t>
            </a:r>
            <a:endParaRPr lang="zh-CN" altLang="en-US" sz="14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9A5F816-5184-4B34-B6AC-63D445D74247}"/>
              </a:ext>
            </a:extLst>
          </p:cNvPr>
          <p:cNvSpPr txBox="1"/>
          <p:nvPr/>
        </p:nvSpPr>
        <p:spPr>
          <a:xfrm>
            <a:off x="4756580" y="888659"/>
            <a:ext cx="4066412" cy="13234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particle representation</a:t>
            </a:r>
          </a:p>
          <a:p>
            <a:endParaRPr lang="en-US" altLang="zh-CN" baseline="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B2E71880-82FC-406B-8FCB-F24468EE1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248981"/>
              </p:ext>
            </p:extLst>
          </p:nvPr>
        </p:nvGraphicFramePr>
        <p:xfrm>
          <a:off x="5554710" y="1396656"/>
          <a:ext cx="26019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2601360" imgH="405000" progId="Equation.AxMath">
                  <p:embed/>
                </p:oleObj>
              </mc:Choice>
              <mc:Fallback>
                <p:oleObj name="AxMath" r:id="rId13" imgW="2601360" imgH="405000" progId="Equation.AxMath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0173C49-7247-4438-8B3B-7D7205CE79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54710" y="1396656"/>
                        <a:ext cx="2601913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F1AEF0D-3E17-41CA-84E4-9A2FE1E2A87A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flipH="1">
            <a:off x="2295606" y="2202869"/>
            <a:ext cx="2821" cy="2601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72C4B42-823C-43E3-8EDA-1F10A4D6347D}"/>
              </a:ext>
            </a:extLst>
          </p:cNvPr>
          <p:cNvCxnSpPr>
            <a:cxnSpLocks/>
          </p:cNvCxnSpPr>
          <p:nvPr/>
        </p:nvCxnSpPr>
        <p:spPr bwMode="auto">
          <a:xfrm flipH="1">
            <a:off x="6934632" y="2212098"/>
            <a:ext cx="5185" cy="27193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2522D3B-0F4C-40D4-9270-93FBF33D72FA}"/>
              </a:ext>
            </a:extLst>
          </p:cNvPr>
          <p:cNvCxnSpPr>
            <a:cxnSpLocks/>
          </p:cNvCxnSpPr>
          <p:nvPr/>
        </p:nvCxnSpPr>
        <p:spPr bwMode="auto">
          <a:xfrm>
            <a:off x="2295606" y="2459650"/>
            <a:ext cx="1979646" cy="125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2BC1EAF-E0D8-4E0A-901A-9CA8EA6DDBD7}"/>
              </a:ext>
            </a:extLst>
          </p:cNvPr>
          <p:cNvCxnSpPr>
            <a:cxnSpLocks/>
          </p:cNvCxnSpPr>
          <p:nvPr/>
        </p:nvCxnSpPr>
        <p:spPr bwMode="auto">
          <a:xfrm>
            <a:off x="4268323" y="2471185"/>
            <a:ext cx="2671494" cy="128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C7330A5-7548-44EC-8952-B7CCE9F555D0}"/>
              </a:ext>
            </a:extLst>
          </p:cNvPr>
          <p:cNvCxnSpPr>
            <a:cxnSpLocks/>
          </p:cNvCxnSpPr>
          <p:nvPr/>
        </p:nvCxnSpPr>
        <p:spPr bwMode="auto">
          <a:xfrm>
            <a:off x="4317786" y="2461956"/>
            <a:ext cx="0" cy="1663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D5A6821-ADED-4FBB-9DA1-6951AAE1D572}"/>
              </a:ext>
            </a:extLst>
          </p:cNvPr>
          <p:cNvCxnSpPr>
            <a:cxnSpLocks/>
            <a:endCxn id="39" idx="0"/>
          </p:cNvCxnSpPr>
          <p:nvPr/>
        </p:nvCxnSpPr>
        <p:spPr bwMode="auto">
          <a:xfrm>
            <a:off x="4317786" y="3430825"/>
            <a:ext cx="0" cy="20281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A33C60D-6FEB-41CB-BB8A-3BA2B6D4FCEC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 bwMode="auto">
          <a:xfrm>
            <a:off x="4317786" y="4433863"/>
            <a:ext cx="6394" cy="4124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BFB2906-AF3F-422B-BF0A-8D7BBEF3D2B0}"/>
              </a:ext>
            </a:extLst>
          </p:cNvPr>
          <p:cNvCxnSpPr>
            <a:cxnSpLocks/>
            <a:stCxn id="38" idx="1"/>
            <a:endCxn id="37" idx="3"/>
          </p:cNvCxnSpPr>
          <p:nvPr/>
        </p:nvCxnSpPr>
        <p:spPr bwMode="auto">
          <a:xfrm flipH="1">
            <a:off x="5799996" y="3015334"/>
            <a:ext cx="940706" cy="61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pic>
        <p:nvPicPr>
          <p:cNvPr id="56" name="Picture 93" descr="Hefei-NAMD LOGO">
            <a:extLst>
              <a:ext uri="{FF2B5EF4-FFF2-40B4-BE49-F238E27FC236}">
                <a16:creationId xmlns:a16="http://schemas.microsoft.com/office/drawing/2014/main" id="{C1117A16-7A58-4476-AC20-5160F14C5D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91" y="3700321"/>
            <a:ext cx="1409663" cy="187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组合 56">
            <a:extLst>
              <a:ext uri="{FF2B5EF4-FFF2-40B4-BE49-F238E27FC236}">
                <a16:creationId xmlns:a16="http://schemas.microsoft.com/office/drawing/2014/main" id="{F5FDBD27-B8F6-47FE-9F5A-77836F82E016}"/>
              </a:ext>
            </a:extLst>
          </p:cNvPr>
          <p:cNvGrpSpPr/>
          <p:nvPr/>
        </p:nvGrpSpPr>
        <p:grpSpPr>
          <a:xfrm>
            <a:off x="697771" y="5788227"/>
            <a:ext cx="6472198" cy="603138"/>
            <a:chOff x="793750" y="5687203"/>
            <a:chExt cx="6467475" cy="603138"/>
          </a:xfrm>
        </p:grpSpPr>
        <p:sp>
          <p:nvSpPr>
            <p:cNvPr id="58" name="矩形: 圆角 3">
              <a:extLst>
                <a:ext uri="{FF2B5EF4-FFF2-40B4-BE49-F238E27FC236}">
                  <a16:creationId xmlns:a16="http://schemas.microsoft.com/office/drawing/2014/main" id="{21A0C018-13D2-4785-920D-8E3FCBBE9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750" y="5791200"/>
              <a:ext cx="1066800" cy="411163"/>
            </a:xfrm>
            <a:prstGeom prst="roundRect">
              <a:avLst>
                <a:gd name="adj" fmla="val 16667"/>
              </a:avLst>
            </a:prstGeom>
            <a:solidFill>
              <a:srgbClr val="B2B2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aseline="0" dirty="0"/>
                <a:t>Geometry optimization</a:t>
              </a:r>
              <a:endParaRPr lang="zh-CN" altLang="en-US" sz="1200" baseline="0" dirty="0"/>
            </a:p>
          </p:txBody>
        </p:sp>
        <p:sp>
          <p:nvSpPr>
            <p:cNvPr id="59" name="矩形: 圆角 28">
              <a:extLst>
                <a:ext uri="{FF2B5EF4-FFF2-40B4-BE49-F238E27FC236}">
                  <a16:creationId xmlns:a16="http://schemas.microsoft.com/office/drawing/2014/main" id="{E486924D-78A1-4D57-B947-2C1925879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825" y="5791200"/>
              <a:ext cx="1066800" cy="411163"/>
            </a:xfrm>
            <a:prstGeom prst="roundRect">
              <a:avLst>
                <a:gd name="adj" fmla="val 16667"/>
              </a:avLst>
            </a:prstGeom>
            <a:solidFill>
              <a:srgbClr val="00B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aseline="0" dirty="0"/>
                <a:t>NVT</a:t>
              </a:r>
              <a:endParaRPr lang="zh-CN" altLang="en-US" sz="1200" baseline="0" dirty="0"/>
            </a:p>
          </p:txBody>
        </p:sp>
        <p:sp>
          <p:nvSpPr>
            <p:cNvPr id="60" name="矩形: 圆角 33">
              <a:extLst>
                <a:ext uri="{FF2B5EF4-FFF2-40B4-BE49-F238E27FC236}">
                  <a16:creationId xmlns:a16="http://schemas.microsoft.com/office/drawing/2014/main" id="{E55F710E-1E01-4A2E-A5A1-DA7C01A73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3562" y="5687203"/>
              <a:ext cx="1066800" cy="603138"/>
            </a:xfrm>
            <a:prstGeom prst="roundRect">
              <a:avLst>
                <a:gd name="adj" fmla="val 16667"/>
              </a:avLst>
            </a:prstGeom>
            <a:solidFill>
              <a:srgbClr val="CEFF2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100" baseline="0" dirty="0"/>
                <a:t>SCF for each geometry in the MD trajectory</a:t>
              </a:r>
              <a:endParaRPr lang="zh-CN" altLang="en-US" sz="1100" baseline="0" dirty="0"/>
            </a:p>
          </p:txBody>
        </p:sp>
        <p:cxnSp>
          <p:nvCxnSpPr>
            <p:cNvPr id="61" name="直接箭头连接符 11">
              <a:extLst>
                <a:ext uri="{FF2B5EF4-FFF2-40B4-BE49-F238E27FC236}">
                  <a16:creationId xmlns:a16="http://schemas.microsoft.com/office/drawing/2014/main" id="{F24A91BF-F9A5-442A-AA5B-4D511476E65A}"/>
                </a:ext>
              </a:extLst>
            </p:cNvPr>
            <p:cNvCxnSpPr>
              <a:cxnSpLocks noChangeShapeType="1"/>
              <a:stCxn id="58" idx="3"/>
              <a:endCxn id="59" idx="1"/>
            </p:cNvCxnSpPr>
            <p:nvPr/>
          </p:nvCxnSpPr>
          <p:spPr bwMode="auto">
            <a:xfrm>
              <a:off x="1860550" y="5997575"/>
              <a:ext cx="549275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箭头连接符 35">
              <a:extLst>
                <a:ext uri="{FF2B5EF4-FFF2-40B4-BE49-F238E27FC236}">
                  <a16:creationId xmlns:a16="http://schemas.microsoft.com/office/drawing/2014/main" id="{15B6288D-4776-4833-976C-6849CC6BB7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76625" y="5997575"/>
              <a:ext cx="550863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箭头连接符 36">
              <a:extLst>
                <a:ext uri="{FF2B5EF4-FFF2-40B4-BE49-F238E27FC236}">
                  <a16:creationId xmlns:a16="http://schemas.microsoft.com/office/drawing/2014/main" id="{F3D30FEE-7B6E-4FB9-B0C9-373F8EDD2E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94288" y="5997575"/>
              <a:ext cx="549275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直接箭头连接符 37">
              <a:extLst>
                <a:ext uri="{FF2B5EF4-FFF2-40B4-BE49-F238E27FC236}">
                  <a16:creationId xmlns:a16="http://schemas.microsoft.com/office/drawing/2014/main" id="{FE67B81F-A123-4D9E-AB54-559BBE5856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10363" y="5997575"/>
              <a:ext cx="5508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5" name="矩形: 圆角 28">
            <a:extLst>
              <a:ext uri="{FF2B5EF4-FFF2-40B4-BE49-F238E27FC236}">
                <a16:creationId xmlns:a16="http://schemas.microsoft.com/office/drawing/2014/main" id="{4FFFF27D-9534-4661-9360-28FB4CE4D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81" y="5884214"/>
            <a:ext cx="1067579" cy="411163"/>
          </a:xfrm>
          <a:prstGeom prst="roundRect">
            <a:avLst>
              <a:gd name="adj" fmla="val 16667"/>
            </a:avLst>
          </a:prstGeom>
          <a:solidFill>
            <a:srgbClr val="00B0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200" baseline="0" dirty="0"/>
              <a:t>NVE</a:t>
            </a:r>
            <a:endParaRPr lang="zh-CN" altLang="en-US" sz="1200" baseline="0" dirty="0"/>
          </a:p>
        </p:txBody>
      </p:sp>
      <p:sp>
        <p:nvSpPr>
          <p:cNvPr id="66" name="矩形: 圆角 28">
            <a:extLst>
              <a:ext uri="{FF2B5EF4-FFF2-40B4-BE49-F238E27FC236}">
                <a16:creationId xmlns:a16="http://schemas.microsoft.com/office/drawing/2014/main" id="{C4FD83DD-74E2-4662-B371-23FB0A565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6791" y="5871689"/>
            <a:ext cx="1067579" cy="411163"/>
          </a:xfrm>
          <a:prstGeom prst="roundRect">
            <a:avLst>
              <a:gd name="adj" fmla="val 16667"/>
            </a:avLst>
          </a:prstGeom>
          <a:solidFill>
            <a:srgbClr val="ECA09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200" baseline="0" dirty="0"/>
              <a:t>NAMD</a:t>
            </a:r>
            <a:endParaRPr lang="zh-CN" altLang="en-US" sz="1200" baseline="0" dirty="0"/>
          </a:p>
        </p:txBody>
      </p:sp>
    </p:spTree>
    <p:extLst>
      <p:ext uri="{BB962C8B-B14F-4D97-AF65-F5344CB8AC3E}">
        <p14:creationId xmlns:p14="http://schemas.microsoft.com/office/powerpoint/2010/main" val="375807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Time-dependent Schrödinger Equation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1B49EAE7-9352-A64A-A30E-E1E5F44BA7E2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B1D2D9A-71A6-4226-BAE0-4CAB78493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24" y="1195850"/>
            <a:ext cx="7776133" cy="485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36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Spin-diabatic Representation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0B90D38D-E236-724C-A2EE-0AC6BFA044EC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C48CA0-8AA2-4DCF-B05D-382B65D22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9" y="1129417"/>
            <a:ext cx="8047811" cy="479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3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Spin-adiabatic Representation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CF3D7D20-6454-5E4F-851F-90D04A2BA978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76820D-5927-4D31-9C87-0D8FC2B4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1093303"/>
            <a:ext cx="8072120" cy="475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8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Couplings in DFT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0944D8-449C-4C1F-B027-8AA472D3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97" y="912432"/>
            <a:ext cx="8344750" cy="5200077"/>
          </a:xfrm>
          <a:prstGeom prst="rect">
            <a:avLst/>
          </a:prstGeom>
        </p:spPr>
      </p:pic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F1D4FC30-D9EA-D241-BCEB-E54378DF973D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922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5D3CF9D5-B05B-C141-AF49-4E1F03C86481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2CCEE4B-CCF8-48FC-8145-039C2148FFB0}"/>
              </a:ext>
            </a:extLst>
          </p:cNvPr>
          <p:cNvGrpSpPr/>
          <p:nvPr/>
        </p:nvGrpSpPr>
        <p:grpSpPr>
          <a:xfrm>
            <a:off x="666856" y="1187806"/>
            <a:ext cx="8150116" cy="4823424"/>
            <a:chOff x="358688" y="1213065"/>
            <a:chExt cx="8150116" cy="4823424"/>
          </a:xfrm>
        </p:grpSpPr>
        <p:sp>
          <p:nvSpPr>
            <p:cNvPr id="12" name="圆角矩形 8">
              <a:extLst>
                <a:ext uri="{FF2B5EF4-FFF2-40B4-BE49-F238E27FC236}">
                  <a16:creationId xmlns:a16="http://schemas.microsoft.com/office/drawing/2014/main" id="{6FBC20A6-3D09-40D7-B92F-2CC7205C61B2}"/>
                </a:ext>
              </a:extLst>
            </p:cNvPr>
            <p:cNvSpPr/>
            <p:nvPr/>
          </p:nvSpPr>
          <p:spPr>
            <a:xfrm>
              <a:off x="969248" y="1213065"/>
              <a:ext cx="1753870" cy="46355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构建超胞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D0BDB1D-60FC-4C3E-A09D-A1EC08387956}"/>
                </a:ext>
              </a:extLst>
            </p:cNvPr>
            <p:cNvCxnSpPr>
              <a:cxnSpLocks/>
            </p:cNvCxnSpPr>
            <p:nvPr/>
          </p:nvCxnSpPr>
          <p:spPr>
            <a:xfrm>
              <a:off x="1823875" y="1677229"/>
              <a:ext cx="0" cy="4900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圆角矩形 14">
              <a:extLst>
                <a:ext uri="{FF2B5EF4-FFF2-40B4-BE49-F238E27FC236}">
                  <a16:creationId xmlns:a16="http://schemas.microsoft.com/office/drawing/2014/main" id="{7391E25F-B8A5-442B-9F2C-74D3FDE397F7}"/>
                </a:ext>
              </a:extLst>
            </p:cNvPr>
            <p:cNvSpPr/>
            <p:nvPr/>
          </p:nvSpPr>
          <p:spPr>
            <a:xfrm>
              <a:off x="962467" y="2159047"/>
              <a:ext cx="1774190" cy="46228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结构优化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2F2B7F9-83A8-4BF0-9C87-7D56E46A5CBC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21" y="2632886"/>
              <a:ext cx="0" cy="4900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036EC4E6-B9CB-4DE4-B7E5-47CF34AC3553}"/>
                </a:ext>
              </a:extLst>
            </p:cNvPr>
            <p:cNvSpPr/>
            <p:nvPr/>
          </p:nvSpPr>
          <p:spPr>
            <a:xfrm>
              <a:off x="3860661" y="2587190"/>
              <a:ext cx="2515235" cy="46355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正则系综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NVT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升温</a:t>
              </a: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4674038C-1DF9-47D2-8D9F-DDF4754574E2}"/>
                </a:ext>
              </a:extLst>
            </p:cNvPr>
            <p:cNvSpPr/>
            <p:nvPr/>
          </p:nvSpPr>
          <p:spPr>
            <a:xfrm>
              <a:off x="3862866" y="3653150"/>
              <a:ext cx="2976880" cy="46355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微正则系综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NVE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生成轨迹</a:t>
              </a: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3FE5DBA5-E864-4385-B9FB-3F215F44E2FD}"/>
                </a:ext>
              </a:extLst>
            </p:cNvPr>
            <p:cNvSpPr/>
            <p:nvPr/>
          </p:nvSpPr>
          <p:spPr>
            <a:xfrm>
              <a:off x="358688" y="4613071"/>
              <a:ext cx="3309620" cy="46355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对每个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轨迹进行静态计算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8ACB88C9-43A1-4F2B-9FB5-22F0F4796691}"/>
                </a:ext>
              </a:extLst>
            </p:cNvPr>
            <p:cNvCxnSpPr>
              <a:cxnSpLocks/>
            </p:cNvCxnSpPr>
            <p:nvPr/>
          </p:nvCxnSpPr>
          <p:spPr>
            <a:xfrm>
              <a:off x="1846608" y="3596976"/>
              <a:ext cx="0" cy="100533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圆角矩形 30">
              <a:extLst>
                <a:ext uri="{FF2B5EF4-FFF2-40B4-BE49-F238E27FC236}">
                  <a16:creationId xmlns:a16="http://schemas.microsoft.com/office/drawing/2014/main" id="{DF3609E8-AEA2-4103-AC88-44C2AD6B8F48}"/>
                </a:ext>
              </a:extLst>
            </p:cNvPr>
            <p:cNvSpPr/>
            <p:nvPr/>
          </p:nvSpPr>
          <p:spPr>
            <a:xfrm>
              <a:off x="604776" y="5572939"/>
              <a:ext cx="2888615" cy="463550"/>
            </a:xfrm>
            <a:prstGeom prst="round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从波函数计算非绝热耦合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D20B970-4586-4DE9-9C1B-3245974B2415}"/>
                </a:ext>
              </a:extLst>
            </p:cNvPr>
            <p:cNvCxnSpPr>
              <a:cxnSpLocks/>
            </p:cNvCxnSpPr>
            <p:nvPr/>
          </p:nvCxnSpPr>
          <p:spPr>
            <a:xfrm>
              <a:off x="1872708" y="5080549"/>
              <a:ext cx="0" cy="4900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FE19F2B-969C-4ED1-847D-25D849CD3FEA}"/>
                </a:ext>
              </a:extLst>
            </p:cNvPr>
            <p:cNvCxnSpPr>
              <a:cxnSpLocks/>
            </p:cNvCxnSpPr>
            <p:nvPr/>
          </p:nvCxnSpPr>
          <p:spPr>
            <a:xfrm>
              <a:off x="3672039" y="4833846"/>
              <a:ext cx="89490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圆角矩形 2">
              <a:extLst>
                <a:ext uri="{FF2B5EF4-FFF2-40B4-BE49-F238E27FC236}">
                  <a16:creationId xmlns:a16="http://schemas.microsoft.com/office/drawing/2014/main" id="{767159E1-4624-40BA-9DAA-51D209B061D7}"/>
                </a:ext>
              </a:extLst>
            </p:cNvPr>
            <p:cNvSpPr/>
            <p:nvPr/>
          </p:nvSpPr>
          <p:spPr>
            <a:xfrm>
              <a:off x="4576884" y="4605198"/>
              <a:ext cx="3931920" cy="462280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对于自旋透热表象，单独输出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SOC</a:t>
              </a:r>
            </a:p>
          </p:txBody>
        </p:sp>
        <p:sp>
          <p:nvSpPr>
            <p:cNvPr id="24" name="圆角矩形 18">
              <a:extLst>
                <a:ext uri="{FF2B5EF4-FFF2-40B4-BE49-F238E27FC236}">
                  <a16:creationId xmlns:a16="http://schemas.microsoft.com/office/drawing/2014/main" id="{4688684B-2472-4750-88BD-00BB247504B7}"/>
                </a:ext>
              </a:extLst>
            </p:cNvPr>
            <p:cNvSpPr/>
            <p:nvPr/>
          </p:nvSpPr>
          <p:spPr>
            <a:xfrm>
              <a:off x="5798473" y="5572939"/>
              <a:ext cx="1753870" cy="462915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Hefei-NAMD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313DF291-FD1E-46C8-940E-7870F3C88D42}"/>
                </a:ext>
              </a:extLst>
            </p:cNvPr>
            <p:cNvCxnSpPr>
              <a:cxnSpLocks/>
            </p:cNvCxnSpPr>
            <p:nvPr/>
          </p:nvCxnSpPr>
          <p:spPr>
            <a:xfrm>
              <a:off x="3485959" y="5804659"/>
              <a:ext cx="230860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23837C4B-F93A-470A-9AF7-E6500D0120A6}"/>
                </a:ext>
              </a:extLst>
            </p:cNvPr>
            <p:cNvCxnSpPr>
              <a:cxnSpLocks/>
            </p:cNvCxnSpPr>
            <p:nvPr/>
          </p:nvCxnSpPr>
          <p:spPr>
            <a:xfrm>
              <a:off x="6672887" y="5081391"/>
              <a:ext cx="0" cy="4900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圆角矩形 15">
              <a:extLst>
                <a:ext uri="{FF2B5EF4-FFF2-40B4-BE49-F238E27FC236}">
                  <a16:creationId xmlns:a16="http://schemas.microsoft.com/office/drawing/2014/main" id="{FE5C6407-9FA3-45E9-9462-64FC61455C78}"/>
                </a:ext>
              </a:extLst>
            </p:cNvPr>
            <p:cNvSpPr/>
            <p:nvPr/>
          </p:nvSpPr>
          <p:spPr>
            <a:xfrm>
              <a:off x="613109" y="3123538"/>
              <a:ext cx="2515235" cy="46355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分子动力学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" name="左大括号 27">
              <a:extLst>
                <a:ext uri="{FF2B5EF4-FFF2-40B4-BE49-F238E27FC236}">
                  <a16:creationId xmlns:a16="http://schemas.microsoft.com/office/drawing/2014/main" id="{FAF5F43D-0D3C-4E4E-BE23-D1A816C497B9}"/>
                </a:ext>
              </a:extLst>
            </p:cNvPr>
            <p:cNvSpPr/>
            <p:nvPr/>
          </p:nvSpPr>
          <p:spPr>
            <a:xfrm>
              <a:off x="3213029" y="2824031"/>
              <a:ext cx="631492" cy="1060905"/>
            </a:xfrm>
            <a:prstGeom prst="leftBrac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图片 28" descr="Hefei-NAMD">
            <a:extLst>
              <a:ext uri="{FF2B5EF4-FFF2-40B4-BE49-F238E27FC236}">
                <a16:creationId xmlns:a16="http://schemas.microsoft.com/office/drawing/2014/main" id="{A1B40D3D-566E-48A7-8A82-027BCB4D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361" y="670627"/>
            <a:ext cx="1409700" cy="188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C6775A20-EBC8-43FE-97E8-C86E3209BD39}"/>
              </a:ext>
            </a:extLst>
          </p:cNvPr>
          <p:cNvGrpSpPr/>
          <p:nvPr/>
        </p:nvGrpSpPr>
        <p:grpSpPr>
          <a:xfrm>
            <a:off x="257908" y="2000804"/>
            <a:ext cx="3305909" cy="3358309"/>
            <a:chOff x="641259" y="1117079"/>
            <a:chExt cx="3305909" cy="3358309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25787AAE-BA6B-41DD-9F36-45AF7A518C5C}"/>
                </a:ext>
              </a:extLst>
            </p:cNvPr>
            <p:cNvSpPr/>
            <p:nvPr/>
          </p:nvSpPr>
          <p:spPr>
            <a:xfrm>
              <a:off x="1413818" y="1117079"/>
              <a:ext cx="1753870" cy="46355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构建超胞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DD9C50DA-5A5E-41C9-994F-88743D216A02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>
              <a:off x="2290753" y="1580629"/>
              <a:ext cx="3379" cy="4824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圆角矩形 14">
              <a:extLst>
                <a:ext uri="{FF2B5EF4-FFF2-40B4-BE49-F238E27FC236}">
                  <a16:creationId xmlns:a16="http://schemas.microsoft.com/office/drawing/2014/main" id="{BDD46E88-F330-4703-B5C6-5977269D25C8}"/>
                </a:ext>
              </a:extLst>
            </p:cNvPr>
            <p:cNvSpPr/>
            <p:nvPr/>
          </p:nvSpPr>
          <p:spPr>
            <a:xfrm>
              <a:off x="1407037" y="2063061"/>
              <a:ext cx="1774190" cy="46228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结构优化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B195C718-A507-43F3-A9F0-BBD8B442EB9A}"/>
                </a:ext>
              </a:extLst>
            </p:cNvPr>
            <p:cNvCxnSpPr>
              <a:cxnSpLocks/>
              <a:stCxn id="12" idx="2"/>
              <a:endCxn id="15" idx="0"/>
            </p:cNvCxnSpPr>
            <p:nvPr/>
          </p:nvCxnSpPr>
          <p:spPr>
            <a:xfrm>
              <a:off x="2294132" y="2525341"/>
              <a:ext cx="2283" cy="51147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圆角矩形 15">
              <a:extLst>
                <a:ext uri="{FF2B5EF4-FFF2-40B4-BE49-F238E27FC236}">
                  <a16:creationId xmlns:a16="http://schemas.microsoft.com/office/drawing/2014/main" id="{28F4390A-8400-4140-BFDD-EA54E5312033}"/>
                </a:ext>
              </a:extLst>
            </p:cNvPr>
            <p:cNvSpPr/>
            <p:nvPr/>
          </p:nvSpPr>
          <p:spPr>
            <a:xfrm>
              <a:off x="1142721" y="3036813"/>
              <a:ext cx="2307387" cy="46355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正则系综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NVT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升温</a:t>
              </a:r>
            </a:p>
          </p:txBody>
        </p:sp>
        <p:sp>
          <p:nvSpPr>
            <p:cNvPr id="16" name="圆角矩形 16">
              <a:extLst>
                <a:ext uri="{FF2B5EF4-FFF2-40B4-BE49-F238E27FC236}">
                  <a16:creationId xmlns:a16="http://schemas.microsoft.com/office/drawing/2014/main" id="{B4B80579-1A4F-4AE7-9162-D30A66231F34}"/>
                </a:ext>
              </a:extLst>
            </p:cNvPr>
            <p:cNvSpPr/>
            <p:nvPr/>
          </p:nvSpPr>
          <p:spPr>
            <a:xfrm>
              <a:off x="641259" y="4011838"/>
              <a:ext cx="3305909" cy="463550"/>
            </a:xfrm>
            <a:prstGeom prst="round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微正则系综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NVE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生成轨迹</a:t>
              </a: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42056F59-2F49-4211-9DBC-B056C018F033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flipH="1">
              <a:off x="2294214" y="3500363"/>
              <a:ext cx="2201" cy="5114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1E428C1B-449A-4D7E-B377-54BDAAA4D6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34597" y="735060"/>
            <a:ext cx="4514649" cy="286158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64448F65-DB38-4A9D-8D53-272FDAF11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310" y="3828332"/>
            <a:ext cx="3663810" cy="2138298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6009877D-61EF-4994-B998-E1928242A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6276" y="5933440"/>
            <a:ext cx="2125164" cy="476494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595BFACB-A2C0-4531-96FF-E8C4B183D07D}"/>
              </a:ext>
            </a:extLst>
          </p:cNvPr>
          <p:cNvSpPr txBox="1"/>
          <p:nvPr/>
        </p:nvSpPr>
        <p:spPr>
          <a:xfrm>
            <a:off x="3637280" y="629920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超胞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7E7A055-A089-46B2-9701-B86ACACE17CF}"/>
              </a:ext>
            </a:extLst>
          </p:cNvPr>
          <p:cNvSpPr txBox="1"/>
          <p:nvPr/>
        </p:nvSpPr>
        <p:spPr>
          <a:xfrm>
            <a:off x="4003040" y="3667760"/>
            <a:ext cx="78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页脚占位符 3">
            <a:extLst>
              <a:ext uri="{FF2B5EF4-FFF2-40B4-BE49-F238E27FC236}">
                <a16:creationId xmlns:a16="http://schemas.microsoft.com/office/drawing/2014/main" id="{CCCE8EA8-A371-4CD7-816F-1C7139FB64BB}"/>
              </a:ext>
            </a:extLst>
          </p:cNvPr>
          <p:cNvSpPr txBox="1">
            <a:spLocks/>
          </p:cNvSpPr>
          <p:nvPr/>
        </p:nvSpPr>
        <p:spPr>
          <a:xfrm>
            <a:off x="0" y="6590691"/>
            <a:ext cx="1266701" cy="194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Hefei-NAMD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2" name="日期占位符 2">
            <a:extLst>
              <a:ext uri="{FF2B5EF4-FFF2-40B4-BE49-F238E27FC236}">
                <a16:creationId xmlns:a16="http://schemas.microsoft.com/office/drawing/2014/main" id="{02B9F9E8-66D2-4EE5-84D5-8C6F09AB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246E44B5-98F6-9C4A-987E-68F7A559C7BE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4418278-C75E-4E38-8D2C-0A362E7465C0}"/>
              </a:ext>
            </a:extLst>
          </p:cNvPr>
          <p:cNvSpPr txBox="1"/>
          <p:nvPr/>
        </p:nvSpPr>
        <p:spPr>
          <a:xfrm>
            <a:off x="289560" y="6096000"/>
            <a:ext cx="446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http://staff.ustc.edu.cn/~zqj/posts/NVT-MD</a:t>
            </a:r>
            <a:endParaRPr lang="zh-CN" altLang="en-US" dirty="0"/>
          </a:p>
        </p:txBody>
      </p:sp>
      <p:sp>
        <p:nvSpPr>
          <p:cNvPr id="55" name="标题 5">
            <a:extLst>
              <a:ext uri="{FF2B5EF4-FFF2-40B4-BE49-F238E27FC236}">
                <a16:creationId xmlns:a16="http://schemas.microsoft.com/office/drawing/2014/main" id="{925345BF-B928-456D-8C98-18DDC41A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1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页脚占位符 3">
            <a:extLst>
              <a:ext uri="{FF2B5EF4-FFF2-40B4-BE49-F238E27FC236}">
                <a16:creationId xmlns:a16="http://schemas.microsoft.com/office/drawing/2014/main" id="{CCCE8EA8-A371-4CD7-816F-1C7139FB64BB}"/>
              </a:ext>
            </a:extLst>
          </p:cNvPr>
          <p:cNvSpPr txBox="1">
            <a:spLocks/>
          </p:cNvSpPr>
          <p:nvPr/>
        </p:nvSpPr>
        <p:spPr>
          <a:xfrm>
            <a:off x="0" y="6590691"/>
            <a:ext cx="1266701" cy="194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Hefei-NAMD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2" name="日期占位符 2">
            <a:extLst>
              <a:ext uri="{FF2B5EF4-FFF2-40B4-BE49-F238E27FC236}">
                <a16:creationId xmlns:a16="http://schemas.microsoft.com/office/drawing/2014/main" id="{02B9F9E8-66D2-4EE5-84D5-8C6F09AB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4B3D6040-9CB1-EC4F-8622-D0D896D599EF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标题 5">
            <a:extLst>
              <a:ext uri="{FF2B5EF4-FFF2-40B4-BE49-F238E27FC236}">
                <a16:creationId xmlns:a16="http://schemas.microsoft.com/office/drawing/2014/main" id="{925345BF-B928-456D-8C98-18DDC41A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程序安装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F1308CD-64D8-4323-AEEF-45E92C162FCA}"/>
              </a:ext>
            </a:extLst>
          </p:cNvPr>
          <p:cNvGrpSpPr/>
          <p:nvPr/>
        </p:nvGrpSpPr>
        <p:grpSpPr>
          <a:xfrm>
            <a:off x="156475" y="1390246"/>
            <a:ext cx="3143318" cy="1322129"/>
            <a:chOff x="4441574" y="1517548"/>
            <a:chExt cx="4073775" cy="1713493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0C49BD1-86C8-4E7C-A1B5-E27C79D9A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1574" y="1517548"/>
              <a:ext cx="4073775" cy="1712922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20FAB37-757E-4FF4-AD9D-772C9157FA5E}"/>
                </a:ext>
              </a:extLst>
            </p:cNvPr>
            <p:cNvSpPr txBox="1"/>
            <p:nvPr/>
          </p:nvSpPr>
          <p:spPr>
            <a:xfrm>
              <a:off x="4746991" y="2752383"/>
              <a:ext cx="640289" cy="478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solidFill>
                    <a:srgbClr val="FF0000"/>
                  </a:solidFill>
                </a:rPr>
                <a:t>soc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4" name="直线箭头连接符 13">
              <a:extLst>
                <a:ext uri="{FF2B5EF4-FFF2-40B4-BE49-F238E27FC236}">
                  <a16:creationId xmlns:a16="http://schemas.microsoft.com/office/drawing/2014/main" id="{9CC09880-7734-424C-8F46-7077DCAF8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9133" y="3038821"/>
              <a:ext cx="7563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olid"/>
              <a:headEnd type="none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A2ECF77-FF35-42BC-919E-E189252B67CC}"/>
                </a:ext>
              </a:extLst>
            </p:cNvPr>
            <p:cNvSpPr txBox="1"/>
            <p:nvPr/>
          </p:nvSpPr>
          <p:spPr>
            <a:xfrm>
              <a:off x="5459907" y="2493717"/>
              <a:ext cx="812888" cy="478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FF0000"/>
                  </a:solidFill>
                </a:rPr>
                <a:t>copy</a:t>
              </a:r>
              <a:endParaRPr kumimoji="1"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45E4761-DADF-4251-8F34-CBCDFFD7898D}"/>
              </a:ext>
            </a:extLst>
          </p:cNvPr>
          <p:cNvSpPr txBox="1"/>
          <p:nvPr/>
        </p:nvSpPr>
        <p:spPr>
          <a:xfrm>
            <a:off x="173675" y="1056160"/>
            <a:ext cx="27381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将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std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目录复制为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soc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目录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D2B870-0E4E-4190-AA2A-F82382F963FC}"/>
              </a:ext>
            </a:extLst>
          </p:cNvPr>
          <p:cNvSpPr txBox="1"/>
          <p:nvPr/>
        </p:nvSpPr>
        <p:spPr>
          <a:xfrm>
            <a:off x="889303" y="681544"/>
            <a:ext cx="173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VASP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打补丁：</a:t>
            </a:r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CB69C1-7831-4021-8FE1-B8092B573AA6}"/>
              </a:ext>
            </a:extLst>
          </p:cNvPr>
          <p:cNvSpPr txBox="1"/>
          <p:nvPr/>
        </p:nvSpPr>
        <p:spPr>
          <a:xfrm>
            <a:off x="123194" y="2763070"/>
            <a:ext cx="35356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将补丁中的文件复制到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soc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目录下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E241B3C-3800-4B70-9CF5-E9EC7A6B8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10" y="3094850"/>
            <a:ext cx="3193012" cy="1581724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5C494B2-B307-4820-8224-AD4DE06F344D}"/>
              </a:ext>
            </a:extLst>
          </p:cNvPr>
          <p:cNvSpPr txBox="1"/>
          <p:nvPr/>
        </p:nvSpPr>
        <p:spPr>
          <a:xfrm>
            <a:off x="157271" y="4671546"/>
            <a:ext cx="27527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3.make clean &amp; make ...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D196097-F46F-4D7D-A162-A0EAD3381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47" y="4996823"/>
            <a:ext cx="3300923" cy="775306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3899C730-754E-4EFF-9B73-484F37B20860}"/>
              </a:ext>
            </a:extLst>
          </p:cNvPr>
          <p:cNvSpPr txBox="1"/>
          <p:nvPr/>
        </p:nvSpPr>
        <p:spPr>
          <a:xfrm>
            <a:off x="150958" y="5847452"/>
            <a:ext cx="3659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4.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将编译得到的可执行文件</a:t>
            </a:r>
            <a:r>
              <a:rPr lang="en-US" altLang="zh-CN" sz="1600" dirty="0" err="1">
                <a:latin typeface="Times New Roman" panose="02020603050405020304" charset="0"/>
                <a:ea typeface="宋体" panose="02010600030101010101" pitchFamily="2" charset="-122"/>
              </a:rPr>
              <a:t>vasp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重命名为</a:t>
            </a:r>
            <a:r>
              <a:rPr lang="en-US" altLang="zh-CN" sz="1600" dirty="0" err="1">
                <a:latin typeface="Times New Roman" panose="02020603050405020304" charset="0"/>
                <a:ea typeface="宋体" panose="02010600030101010101" pitchFamily="2" charset="-122"/>
              </a:rPr>
              <a:t>vasp_soc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并复制到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vasp5.4.4/bin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目录下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FE2850-C91F-4812-A472-06901E1CDA24}"/>
              </a:ext>
            </a:extLst>
          </p:cNvPr>
          <p:cNvSpPr/>
          <p:nvPr/>
        </p:nvSpPr>
        <p:spPr>
          <a:xfrm>
            <a:off x="1754966" y="5605670"/>
            <a:ext cx="692900" cy="1760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D3F2624-C4E6-4F25-B95E-5360BB024EB3}"/>
              </a:ext>
            </a:extLst>
          </p:cNvPr>
          <p:cNvSpPr txBox="1"/>
          <p:nvPr/>
        </p:nvSpPr>
        <p:spPr>
          <a:xfrm>
            <a:off x="3754151" y="721241"/>
            <a:ext cx="53898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charset="0"/>
                <a:ea typeface="宋体" panose="02010600030101010101" pitchFamily="2" charset="-122"/>
              </a:rPr>
              <a:t>git clone https://github.com/ZhenfaZheng/NAMDwithSOC.git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6A70A1C5-33E6-4DC5-9E48-52592E530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1849" y="1794724"/>
            <a:ext cx="4771068" cy="364624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D57233D4-EEF2-4982-BE16-F56158039296}"/>
              </a:ext>
            </a:extLst>
          </p:cNvPr>
          <p:cNvSpPr txBox="1"/>
          <p:nvPr/>
        </p:nvSpPr>
        <p:spPr>
          <a:xfrm>
            <a:off x="4226919" y="1193335"/>
            <a:ext cx="3495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Hefei-</a:t>
            </a:r>
            <a:r>
              <a:rPr lang="en-US" altLang="zh-CN" sz="1600" dirty="0" err="1">
                <a:latin typeface="Times New Roman" panose="02020603050405020304" charset="0"/>
                <a:ea typeface="宋体" panose="02010600030101010101" pitchFamily="2" charset="-122"/>
              </a:rPr>
              <a:t>NAMDwithSOC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20F7E6D-1A7D-4849-A50E-214836C756F6}"/>
              </a:ext>
            </a:extLst>
          </p:cNvPr>
          <p:cNvSpPr txBox="1"/>
          <p:nvPr/>
        </p:nvSpPr>
        <p:spPr>
          <a:xfrm>
            <a:off x="5194423" y="5686531"/>
            <a:ext cx="3328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编译得到可执行文件</a:t>
            </a:r>
            <a:r>
              <a:rPr lang="en-US" altLang="zh-CN" sz="1600" dirty="0" err="1">
                <a:latin typeface="Times New Roman" panose="02020603050405020304" charset="0"/>
                <a:ea typeface="宋体" panose="02010600030101010101" pitchFamily="2" charset="-122"/>
              </a:rPr>
              <a:t>namd_soc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AC38C88-B70B-415C-9158-601AB1B65A5B}"/>
              </a:ext>
            </a:extLst>
          </p:cNvPr>
          <p:cNvSpPr txBox="1"/>
          <p:nvPr/>
        </p:nvSpPr>
        <p:spPr>
          <a:xfrm>
            <a:off x="6003234" y="3651919"/>
            <a:ext cx="1488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VASP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补丁目录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5932891-54E3-42EC-98FA-10AEC913EAA0}"/>
              </a:ext>
            </a:extLst>
          </p:cNvPr>
          <p:cNvSpPr txBox="1"/>
          <p:nvPr/>
        </p:nvSpPr>
        <p:spPr>
          <a:xfrm>
            <a:off x="5135075" y="4320576"/>
            <a:ext cx="2569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NAMD-SOC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源文件目录</a:t>
            </a:r>
          </a:p>
        </p:txBody>
      </p:sp>
    </p:spTree>
    <p:extLst>
      <p:ext uri="{BB962C8B-B14F-4D97-AF65-F5344CB8AC3E}">
        <p14:creationId xmlns:p14="http://schemas.microsoft.com/office/powerpoint/2010/main" val="113786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页脚占位符 3">
            <a:extLst>
              <a:ext uri="{FF2B5EF4-FFF2-40B4-BE49-F238E27FC236}">
                <a16:creationId xmlns:a16="http://schemas.microsoft.com/office/drawing/2014/main" id="{CCCE8EA8-A371-4CD7-816F-1C7139FB64BB}"/>
              </a:ext>
            </a:extLst>
          </p:cNvPr>
          <p:cNvSpPr txBox="1">
            <a:spLocks/>
          </p:cNvSpPr>
          <p:nvPr/>
        </p:nvSpPr>
        <p:spPr>
          <a:xfrm>
            <a:off x="0" y="6590691"/>
            <a:ext cx="1266701" cy="194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Hefei-NAMD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2" name="日期占位符 2">
            <a:extLst>
              <a:ext uri="{FF2B5EF4-FFF2-40B4-BE49-F238E27FC236}">
                <a16:creationId xmlns:a16="http://schemas.microsoft.com/office/drawing/2014/main" id="{02B9F9E8-66D2-4EE5-84D5-8C6F09AB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E785C6DC-757B-0D4D-B4A3-65D1449A1424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标题 5">
            <a:extLst>
              <a:ext uri="{FF2B5EF4-FFF2-40B4-BE49-F238E27FC236}">
                <a16:creationId xmlns:a16="http://schemas.microsoft.com/office/drawing/2014/main" id="{925345BF-B928-456D-8C98-18DDC41A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静态计算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4068FB-7A80-4CC2-9D0D-1231BB296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453" y="1334683"/>
            <a:ext cx="2333634" cy="469820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24D846F-093A-4765-ACA9-83200B74BF66}"/>
              </a:ext>
            </a:extLst>
          </p:cNvPr>
          <p:cNvSpPr txBox="1"/>
          <p:nvPr/>
        </p:nvSpPr>
        <p:spPr>
          <a:xfrm>
            <a:off x="2057475" y="788535"/>
            <a:ext cx="244069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自旋绝热表象（</a:t>
            </a:r>
            <a:r>
              <a:rPr lang="en-US" altLang="zh-CN" sz="1600" dirty="0" err="1">
                <a:latin typeface="Times New Roman" panose="02020603050405020304" charset="0"/>
                <a:ea typeface="宋体" panose="02010600030101010101" pitchFamily="2" charset="-122"/>
              </a:rPr>
              <a:t>vasp_ncl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7E6A7C-CA55-4743-926C-F8805B620995}"/>
              </a:ext>
            </a:extLst>
          </p:cNvPr>
          <p:cNvSpPr txBox="1"/>
          <p:nvPr/>
        </p:nvSpPr>
        <p:spPr>
          <a:xfrm>
            <a:off x="4825884" y="808020"/>
            <a:ext cx="28949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自旋透热表象（</a:t>
            </a:r>
            <a:r>
              <a:rPr lang="en-US" altLang="zh-CN" sz="1600" dirty="0" err="1">
                <a:latin typeface="Times New Roman" panose="02020603050405020304" charset="0"/>
                <a:ea typeface="宋体" panose="02010600030101010101" pitchFamily="2" charset="-122"/>
              </a:rPr>
              <a:t>vasp_soc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B59F15-2152-4B27-AE48-32197102D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339" y="1325071"/>
            <a:ext cx="2271385" cy="471267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C617CF8-9379-4DFB-A070-54013405D7CE}"/>
              </a:ext>
            </a:extLst>
          </p:cNvPr>
          <p:cNvSpPr/>
          <p:nvPr/>
        </p:nvSpPr>
        <p:spPr>
          <a:xfrm>
            <a:off x="5307714" y="5673969"/>
            <a:ext cx="1472418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14C727-0EA7-4853-A359-068AFAD49812}"/>
              </a:ext>
            </a:extLst>
          </p:cNvPr>
          <p:cNvSpPr/>
          <p:nvPr/>
        </p:nvSpPr>
        <p:spPr>
          <a:xfrm>
            <a:off x="5127238" y="3099946"/>
            <a:ext cx="1472418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796D22-EAC3-4E9A-832E-B6694D8C2F06}"/>
              </a:ext>
            </a:extLst>
          </p:cNvPr>
          <p:cNvSpPr/>
          <p:nvPr/>
        </p:nvSpPr>
        <p:spPr>
          <a:xfrm>
            <a:off x="2353994" y="3261359"/>
            <a:ext cx="2067950" cy="471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DA32F9-0AF0-4C03-9807-8DDDE6A08697}"/>
              </a:ext>
            </a:extLst>
          </p:cNvPr>
          <p:cNvSpPr txBox="1"/>
          <p:nvPr/>
        </p:nvSpPr>
        <p:spPr>
          <a:xfrm>
            <a:off x="0" y="2172744"/>
            <a:ext cx="212026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非共线磁体系初始磁矩需设置三维的磁矩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l-GR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μ</a:t>
            </a:r>
            <a:r>
              <a:rPr lang="en-US" altLang="zh-CN" sz="1600" baseline="-25000" dirty="0">
                <a:latin typeface="Times New Roman" panose="02020603050405020304" charset="0"/>
                <a:ea typeface="宋体" panose="02010600030101010101" pitchFamily="2" charset="-122"/>
              </a:rPr>
              <a:t>x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l-GR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 μ</a:t>
            </a:r>
            <a:r>
              <a:rPr lang="en-US" altLang="zh-CN" sz="1600" baseline="-25000" dirty="0">
                <a:latin typeface="Times New Roman" panose="02020603050405020304" charset="0"/>
                <a:ea typeface="宋体" panose="02010600030101010101" pitchFamily="2" charset="-122"/>
              </a:rPr>
              <a:t>y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l-GR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 μ</a:t>
            </a:r>
            <a:r>
              <a:rPr lang="en-US" altLang="zh-CN" sz="1600" baseline="-25000" dirty="0">
                <a:latin typeface="Times New Roman" panose="02020603050405020304" charset="0"/>
                <a:ea typeface="宋体" panose="02010600030101010101" pitchFamily="2" charset="-122"/>
              </a:rPr>
              <a:t>z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MAGMON=32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0 0 1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不要写成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32*0 0 1)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打开自旋轨道耦合：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LSORBIT=.TRUE.</a:t>
            </a:r>
          </a:p>
          <a:p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为了加快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SOC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收敛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建议设置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LMAXMIX</a:t>
            </a:r>
            <a:endParaRPr lang="zh-CN" alt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LMAXMIX=4 (d 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电子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LMAXMIX=6 (f 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电子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EEEAE3B-BDD3-44F2-BB4B-601A5CF651C9}"/>
              </a:ext>
            </a:extLst>
          </p:cNvPr>
          <p:cNvSpPr txBox="1"/>
          <p:nvPr/>
        </p:nvSpPr>
        <p:spPr>
          <a:xfrm>
            <a:off x="0" y="773448"/>
            <a:ext cx="2113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32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个</a:t>
            </a: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Ni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原子体系：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8BDD18-7AC6-4F9B-894F-9E97D4488326}"/>
              </a:ext>
            </a:extLst>
          </p:cNvPr>
          <p:cNvSpPr txBox="1"/>
          <p:nvPr/>
        </p:nvSpPr>
        <p:spPr>
          <a:xfrm>
            <a:off x="7455877" y="2652545"/>
            <a:ext cx="16881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自旋极化计算：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ISPIN=2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初始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磁矩需设置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一维磁矩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MAGMON=32*1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（顺序不能反）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E9FC24-9E04-4727-9E61-0C2AD3FFCC6C}"/>
              </a:ext>
            </a:extLst>
          </p:cNvPr>
          <p:cNvSpPr txBox="1"/>
          <p:nvPr/>
        </p:nvSpPr>
        <p:spPr>
          <a:xfrm>
            <a:off x="3380937" y="6110068"/>
            <a:ext cx="555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培训编译的</a:t>
            </a:r>
            <a:r>
              <a:rPr lang="en-US" altLang="zh-CN" sz="1600" dirty="0" err="1"/>
              <a:t>vasp_std</a:t>
            </a:r>
            <a:r>
              <a:rPr lang="zh-CN" altLang="en-US" sz="1600" dirty="0"/>
              <a:t>打开这俩个参数来输出</a:t>
            </a:r>
            <a:r>
              <a:rPr lang="en-US" altLang="zh-CN" sz="1600" dirty="0" err="1"/>
              <a:t>soccar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normalcar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1682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页脚占位符 3">
            <a:extLst>
              <a:ext uri="{FF2B5EF4-FFF2-40B4-BE49-F238E27FC236}">
                <a16:creationId xmlns:a16="http://schemas.microsoft.com/office/drawing/2014/main" id="{CCCE8EA8-A371-4CD7-816F-1C7139FB64BB}"/>
              </a:ext>
            </a:extLst>
          </p:cNvPr>
          <p:cNvSpPr txBox="1">
            <a:spLocks/>
          </p:cNvSpPr>
          <p:nvPr/>
        </p:nvSpPr>
        <p:spPr>
          <a:xfrm>
            <a:off x="0" y="6590691"/>
            <a:ext cx="1266701" cy="194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Hefei-NAMD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2" name="日期占位符 2">
            <a:extLst>
              <a:ext uri="{FF2B5EF4-FFF2-40B4-BE49-F238E27FC236}">
                <a16:creationId xmlns:a16="http://schemas.microsoft.com/office/drawing/2014/main" id="{02B9F9E8-66D2-4EE5-84D5-8C6F09AB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1CEEF633-7FA3-E743-955E-1426E5144CA8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标题 5">
            <a:extLst>
              <a:ext uri="{FF2B5EF4-FFF2-40B4-BE49-F238E27FC236}">
                <a16:creationId xmlns:a16="http://schemas.microsoft.com/office/drawing/2014/main" id="{925345BF-B928-456D-8C98-18DDC41A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NAMD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2">
            <a:extLst>
              <a:ext uri="{FF2B5EF4-FFF2-40B4-BE49-F238E27FC236}">
                <a16:creationId xmlns:a16="http://schemas.microsoft.com/office/drawing/2014/main" id="{1115EC9B-110E-4CE7-8AC8-188B5607819D}"/>
              </a:ext>
            </a:extLst>
          </p:cNvPr>
          <p:cNvSpPr/>
          <p:nvPr/>
        </p:nvSpPr>
        <p:spPr>
          <a:xfrm>
            <a:off x="2194708" y="2503618"/>
            <a:ext cx="1190918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SocCar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03CBC6D-4F98-4A07-BECA-0B7F6488DD92}"/>
              </a:ext>
            </a:extLst>
          </p:cNvPr>
          <p:cNvSpPr/>
          <p:nvPr/>
        </p:nvSpPr>
        <p:spPr>
          <a:xfrm>
            <a:off x="4367286" y="760444"/>
            <a:ext cx="1198831" cy="4635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inp</a:t>
            </a:r>
          </a:p>
        </p:txBody>
      </p:sp>
      <p:sp>
        <p:nvSpPr>
          <p:cNvPr id="10" name="圆角矩形 7">
            <a:extLst>
              <a:ext uri="{FF2B5EF4-FFF2-40B4-BE49-F238E27FC236}">
                <a16:creationId xmlns:a16="http://schemas.microsoft.com/office/drawing/2014/main" id="{AB6D70BA-0F9C-4796-8A33-C8AC1FAE2D6B}"/>
              </a:ext>
            </a:extLst>
          </p:cNvPr>
          <p:cNvSpPr/>
          <p:nvPr/>
        </p:nvSpPr>
        <p:spPr>
          <a:xfrm>
            <a:off x="4367286" y="1673477"/>
            <a:ext cx="1198831" cy="4635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INICON</a:t>
            </a:r>
          </a:p>
        </p:txBody>
      </p:sp>
      <p:sp>
        <p:nvSpPr>
          <p:cNvPr id="11" name="圆角矩形 9">
            <a:extLst>
              <a:ext uri="{FF2B5EF4-FFF2-40B4-BE49-F238E27FC236}">
                <a16:creationId xmlns:a16="http://schemas.microsoft.com/office/drawing/2014/main" id="{D1DC1915-E112-4350-915B-5AE25ADC0F2B}"/>
              </a:ext>
            </a:extLst>
          </p:cNvPr>
          <p:cNvSpPr/>
          <p:nvPr/>
        </p:nvSpPr>
        <p:spPr>
          <a:xfrm>
            <a:off x="4362596" y="2502104"/>
            <a:ext cx="1217589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COUPCAR</a:t>
            </a:r>
          </a:p>
        </p:txBody>
      </p:sp>
      <p:sp>
        <p:nvSpPr>
          <p:cNvPr id="12" name="圆角矩形 15">
            <a:extLst>
              <a:ext uri="{FF2B5EF4-FFF2-40B4-BE49-F238E27FC236}">
                <a16:creationId xmlns:a16="http://schemas.microsoft.com/office/drawing/2014/main" id="{7AC0A1F8-818C-4757-91BA-94A4C02E07CD}"/>
              </a:ext>
            </a:extLst>
          </p:cNvPr>
          <p:cNvSpPr/>
          <p:nvPr/>
        </p:nvSpPr>
        <p:spPr>
          <a:xfrm>
            <a:off x="7412989" y="709694"/>
            <a:ext cx="1618615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PSICT.*</a:t>
            </a:r>
          </a:p>
        </p:txBody>
      </p:sp>
      <p:sp>
        <p:nvSpPr>
          <p:cNvPr id="13" name="圆角矩形 16">
            <a:extLst>
              <a:ext uri="{FF2B5EF4-FFF2-40B4-BE49-F238E27FC236}">
                <a16:creationId xmlns:a16="http://schemas.microsoft.com/office/drawing/2014/main" id="{A4751EBC-3B22-405D-A681-737B20C11C42}"/>
              </a:ext>
            </a:extLst>
          </p:cNvPr>
          <p:cNvSpPr/>
          <p:nvPr/>
        </p:nvSpPr>
        <p:spPr>
          <a:xfrm>
            <a:off x="7408155" y="1674308"/>
            <a:ext cx="1618615" cy="46355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SHPROP.*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A8A8853-C8AE-4E3B-9A5F-4F2CA6C6FCAE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3385626" y="2733879"/>
            <a:ext cx="976970" cy="15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5C33997-1407-4E2C-93C5-F9F75C2080B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8217463" y="2137858"/>
            <a:ext cx="0" cy="7460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53ACF2E-41EA-4D01-ABF1-CD2B9FFED7C7}"/>
              </a:ext>
            </a:extLst>
          </p:cNvPr>
          <p:cNvSpPr txBox="1"/>
          <p:nvPr/>
        </p:nvSpPr>
        <p:spPr>
          <a:xfrm>
            <a:off x="285554" y="726107"/>
            <a:ext cx="32746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inp</a:t>
            </a: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：参数控制文件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INICON</a:t>
            </a: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：初始态设置文件</a:t>
            </a:r>
          </a:p>
          <a:p>
            <a:r>
              <a:rPr lang="en-US" altLang="zh-CN" sz="1400" dirty="0">
                <a:latin typeface="Times New Roman" panose="02020603050405020304" charset="0"/>
                <a:ea typeface="宋体" panose="02010600030101010101" pitchFamily="2" charset="-122"/>
              </a:rPr>
              <a:t>COUPCAR</a:t>
            </a: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：耦合量信息</a:t>
            </a:r>
          </a:p>
        </p:txBody>
      </p:sp>
      <p:sp>
        <p:nvSpPr>
          <p:cNvPr id="22" name="圆角矩形 10">
            <a:extLst>
              <a:ext uri="{FF2B5EF4-FFF2-40B4-BE49-F238E27FC236}">
                <a16:creationId xmlns:a16="http://schemas.microsoft.com/office/drawing/2014/main" id="{AFED2C3B-5C70-4AC0-A81D-47F89759EBD1}"/>
              </a:ext>
            </a:extLst>
          </p:cNvPr>
          <p:cNvSpPr/>
          <p:nvPr/>
        </p:nvSpPr>
        <p:spPr>
          <a:xfrm>
            <a:off x="2222694" y="3487086"/>
            <a:ext cx="1111349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WAVECAR</a:t>
            </a:r>
          </a:p>
        </p:txBody>
      </p:sp>
      <p:cxnSp>
        <p:nvCxnSpPr>
          <p:cNvPr id="23" name="曲线连接符 14">
            <a:extLst>
              <a:ext uri="{FF2B5EF4-FFF2-40B4-BE49-F238E27FC236}">
                <a16:creationId xmlns:a16="http://schemas.microsoft.com/office/drawing/2014/main" id="{595E0F76-D442-4915-86B8-588A0AF0F673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 flipV="1">
            <a:off x="3334043" y="2733879"/>
            <a:ext cx="1028553" cy="98498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18">
            <a:extLst>
              <a:ext uri="{FF2B5EF4-FFF2-40B4-BE49-F238E27FC236}">
                <a16:creationId xmlns:a16="http://schemas.microsoft.com/office/drawing/2014/main" id="{802551FD-3671-4CFC-A290-5C0B767088AB}"/>
              </a:ext>
            </a:extLst>
          </p:cNvPr>
          <p:cNvSpPr/>
          <p:nvPr/>
        </p:nvSpPr>
        <p:spPr>
          <a:xfrm>
            <a:off x="459545" y="2503619"/>
            <a:ext cx="965981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vasp_soc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5" name="圆角矩形 19">
            <a:extLst>
              <a:ext uri="{FF2B5EF4-FFF2-40B4-BE49-F238E27FC236}">
                <a16:creationId xmlns:a16="http://schemas.microsoft.com/office/drawing/2014/main" id="{26009F28-EA23-4394-81D5-66D62D41C64E}"/>
              </a:ext>
            </a:extLst>
          </p:cNvPr>
          <p:cNvSpPr/>
          <p:nvPr/>
        </p:nvSpPr>
        <p:spPr>
          <a:xfrm>
            <a:off x="454855" y="3487086"/>
            <a:ext cx="990405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vasp_ncl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209C7BE-8F6C-4C18-860C-7159D6AD048A}"/>
              </a:ext>
            </a:extLst>
          </p:cNvPr>
          <p:cNvSpPr txBox="1"/>
          <p:nvPr/>
        </p:nvSpPr>
        <p:spPr>
          <a:xfrm>
            <a:off x="3363758" y="2424860"/>
            <a:ext cx="969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ea typeface="宋体" panose="02010600030101010101" pitchFamily="2" charset="-122"/>
              </a:rPr>
              <a:t>namd_soc</a:t>
            </a:r>
            <a:endParaRPr lang="en-US" altLang="zh-CN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830C207-A253-483A-AA92-FF9D8AB4A074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 flipV="1">
            <a:off x="1425526" y="2735393"/>
            <a:ext cx="769182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94B742E-ED3C-4CC7-A57C-734968BE555A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>
            <a:off x="1445260" y="3718861"/>
            <a:ext cx="7774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曲线连接符 25">
            <a:extLst>
              <a:ext uri="{FF2B5EF4-FFF2-40B4-BE49-F238E27FC236}">
                <a16:creationId xmlns:a16="http://schemas.microsoft.com/office/drawing/2014/main" id="{DB8189D7-6B57-41C9-AE86-9D70B2A6194C}"/>
              </a:ext>
            </a:extLst>
          </p:cNvPr>
          <p:cNvCxnSpPr>
            <a:cxnSpLocks/>
            <a:stCxn id="24" idx="3"/>
            <a:endCxn id="22" idx="1"/>
          </p:cNvCxnSpPr>
          <p:nvPr/>
        </p:nvCxnSpPr>
        <p:spPr>
          <a:xfrm>
            <a:off x="1425526" y="2735394"/>
            <a:ext cx="797168" cy="983467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1AD1B54-81A2-488F-BC68-0C88EF212BA9}"/>
              </a:ext>
            </a:extLst>
          </p:cNvPr>
          <p:cNvSpPr txBox="1"/>
          <p:nvPr/>
        </p:nvSpPr>
        <p:spPr>
          <a:xfrm>
            <a:off x="288616" y="3140586"/>
            <a:ext cx="1633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自旋绝热表象</a:t>
            </a:r>
          </a:p>
        </p:txBody>
      </p:sp>
      <p:sp>
        <p:nvSpPr>
          <p:cNvPr id="32" name="圆角矩形 30">
            <a:extLst>
              <a:ext uri="{FF2B5EF4-FFF2-40B4-BE49-F238E27FC236}">
                <a16:creationId xmlns:a16="http://schemas.microsoft.com/office/drawing/2014/main" id="{B4E33A61-6534-4F68-A3A3-4DB2DF5379F5}"/>
              </a:ext>
            </a:extLst>
          </p:cNvPr>
          <p:cNvSpPr/>
          <p:nvPr/>
        </p:nvSpPr>
        <p:spPr>
          <a:xfrm>
            <a:off x="7389544" y="2849937"/>
            <a:ext cx="1618615" cy="46355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namdsoc.py</a:t>
            </a:r>
            <a:r>
              <a:rPr lang="en-US" altLang="zh-CN" sz="1400" baseline="30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[1]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数据分析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28B184E-C494-439B-8B7E-064FEB863EC4}"/>
              </a:ext>
            </a:extLst>
          </p:cNvPr>
          <p:cNvSpPr txBox="1"/>
          <p:nvPr/>
        </p:nvSpPr>
        <p:spPr>
          <a:xfrm>
            <a:off x="5884333" y="1754449"/>
            <a:ext cx="943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ea typeface="宋体" panose="02010600030101010101" pitchFamily="2" charset="-122"/>
              </a:rPr>
              <a:t>namd_soc</a:t>
            </a:r>
            <a:endParaRPr lang="en-US" altLang="zh-CN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EF02E500-9A89-4AF3-8955-DAEC1AAF4581}"/>
              </a:ext>
            </a:extLst>
          </p:cNvPr>
          <p:cNvCxnSpPr>
            <a:cxnSpLocks/>
            <a:stCxn id="9" idx="3"/>
            <a:endCxn id="34" idx="1"/>
          </p:cNvCxnSpPr>
          <p:nvPr/>
        </p:nvCxnSpPr>
        <p:spPr>
          <a:xfrm>
            <a:off x="5566117" y="992219"/>
            <a:ext cx="318216" cy="916119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B199C1B-4D4E-472F-B8D0-45459E7EAED5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>
            <a:off x="5566117" y="1905252"/>
            <a:ext cx="318216" cy="30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连接符: 曲线 72">
            <a:extLst>
              <a:ext uri="{FF2B5EF4-FFF2-40B4-BE49-F238E27FC236}">
                <a16:creationId xmlns:a16="http://schemas.microsoft.com/office/drawing/2014/main" id="{7C2C426E-CC8B-48B6-85BD-BE3CEE6F407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5580185" y="1908338"/>
            <a:ext cx="304148" cy="825541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曲线连接符 35">
            <a:extLst>
              <a:ext uri="{FF2B5EF4-FFF2-40B4-BE49-F238E27FC236}">
                <a16:creationId xmlns:a16="http://schemas.microsoft.com/office/drawing/2014/main" id="{45201603-712B-4A61-868E-066A300315AC}"/>
              </a:ext>
            </a:extLst>
          </p:cNvPr>
          <p:cNvCxnSpPr>
            <a:cxnSpLocks/>
            <a:stCxn id="34" idx="3"/>
            <a:endCxn id="12" idx="1"/>
          </p:cNvCxnSpPr>
          <p:nvPr/>
        </p:nvCxnSpPr>
        <p:spPr>
          <a:xfrm flipV="1">
            <a:off x="6827521" y="941469"/>
            <a:ext cx="585468" cy="9668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曲线连接符 35">
            <a:extLst>
              <a:ext uri="{FF2B5EF4-FFF2-40B4-BE49-F238E27FC236}">
                <a16:creationId xmlns:a16="http://schemas.microsoft.com/office/drawing/2014/main" id="{158C639A-0867-48E7-B669-AEC5FC9A6356}"/>
              </a:ext>
            </a:extLst>
          </p:cNvPr>
          <p:cNvCxnSpPr>
            <a:cxnSpLocks/>
            <a:stCxn id="34" idx="3"/>
            <a:endCxn id="13" idx="1"/>
          </p:cNvCxnSpPr>
          <p:nvPr/>
        </p:nvCxnSpPr>
        <p:spPr>
          <a:xfrm flipV="1">
            <a:off x="6827521" y="1906083"/>
            <a:ext cx="580634" cy="225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1" name="文本框 150">
            <a:extLst>
              <a:ext uri="{FF2B5EF4-FFF2-40B4-BE49-F238E27FC236}">
                <a16:creationId xmlns:a16="http://schemas.microsoft.com/office/drawing/2014/main" id="{9FE0D91D-B30E-4E99-B215-55A8DC739055}"/>
              </a:ext>
            </a:extLst>
          </p:cNvPr>
          <p:cNvSpPr txBox="1"/>
          <p:nvPr/>
        </p:nvSpPr>
        <p:spPr>
          <a:xfrm>
            <a:off x="305028" y="2167570"/>
            <a:ext cx="1633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自旋透热表象</a:t>
            </a:r>
          </a:p>
        </p:txBody>
      </p:sp>
      <p:sp>
        <p:nvSpPr>
          <p:cNvPr id="159" name="圆角矩形 9">
            <a:extLst>
              <a:ext uri="{FF2B5EF4-FFF2-40B4-BE49-F238E27FC236}">
                <a16:creationId xmlns:a16="http://schemas.microsoft.com/office/drawing/2014/main" id="{6089D139-897E-4C26-8293-18DE9B2BE4CC}"/>
              </a:ext>
            </a:extLst>
          </p:cNvPr>
          <p:cNvSpPr/>
          <p:nvPr/>
        </p:nvSpPr>
        <p:spPr>
          <a:xfrm>
            <a:off x="1992923" y="4502061"/>
            <a:ext cx="1613095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NATXT, EIGTXT</a:t>
            </a: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89F8FA45-6445-471B-BC83-13635F7F5FE7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778369" y="3950636"/>
            <a:ext cx="0" cy="5557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B1FBAFA3-F502-4B0C-8912-EB6462723CB0}"/>
              </a:ext>
            </a:extLst>
          </p:cNvPr>
          <p:cNvSpPr txBox="1"/>
          <p:nvPr/>
        </p:nvSpPr>
        <p:spPr>
          <a:xfrm>
            <a:off x="2808086" y="4063747"/>
            <a:ext cx="1060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ea typeface="宋体" panose="02010600030101010101" pitchFamily="2" charset="-122"/>
              </a:rPr>
              <a:t>CA-NAC</a:t>
            </a:r>
            <a:r>
              <a:rPr lang="en-US" altLang="zh-CN" sz="1400" baseline="30000" dirty="0">
                <a:latin typeface="Times New Roman" panose="02020603050405020304" charset="0"/>
                <a:ea typeface="宋体" panose="02010600030101010101" pitchFamily="2" charset="-122"/>
              </a:rPr>
              <a:t>[2]</a:t>
            </a:r>
            <a:endParaRPr lang="en-US" altLang="zh-CN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5" name="圆角矩形 9">
            <a:extLst>
              <a:ext uri="{FF2B5EF4-FFF2-40B4-BE49-F238E27FC236}">
                <a16:creationId xmlns:a16="http://schemas.microsoft.com/office/drawing/2014/main" id="{C15A6715-E932-4026-8893-9266A52D03A1}"/>
              </a:ext>
            </a:extLst>
          </p:cNvPr>
          <p:cNvSpPr/>
          <p:nvPr/>
        </p:nvSpPr>
        <p:spPr>
          <a:xfrm>
            <a:off x="374405" y="5210135"/>
            <a:ext cx="1473152" cy="4635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空的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COUPCAR</a:t>
            </a:r>
          </a:p>
        </p:txBody>
      </p:sp>
      <p:cxnSp>
        <p:nvCxnSpPr>
          <p:cNvPr id="166" name="连接符: 曲线 165">
            <a:extLst>
              <a:ext uri="{FF2B5EF4-FFF2-40B4-BE49-F238E27FC236}">
                <a16:creationId xmlns:a16="http://schemas.microsoft.com/office/drawing/2014/main" id="{7D263B31-4B41-4BC6-B67F-472BC72B0E87}"/>
              </a:ext>
            </a:extLst>
          </p:cNvPr>
          <p:cNvCxnSpPr>
            <a:cxnSpLocks/>
            <a:endCxn id="159" idx="2"/>
          </p:cNvCxnSpPr>
          <p:nvPr/>
        </p:nvCxnSpPr>
        <p:spPr>
          <a:xfrm rot="16200000" flipV="1">
            <a:off x="2743056" y="5022026"/>
            <a:ext cx="464528" cy="351698"/>
          </a:xfrm>
          <a:prstGeom prst="curved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F327750E-EAA6-4FFD-9199-673D142B4681}"/>
              </a:ext>
            </a:extLst>
          </p:cNvPr>
          <p:cNvCxnSpPr>
            <a:cxnSpLocks/>
            <a:stCxn id="165" idx="3"/>
          </p:cNvCxnSpPr>
          <p:nvPr/>
        </p:nvCxnSpPr>
        <p:spPr>
          <a:xfrm>
            <a:off x="1847557" y="5441910"/>
            <a:ext cx="24993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B61D7200-5A1D-4423-A2F6-2042EDCFB59B}"/>
              </a:ext>
            </a:extLst>
          </p:cNvPr>
          <p:cNvSpPr txBox="1"/>
          <p:nvPr/>
        </p:nvSpPr>
        <p:spPr>
          <a:xfrm>
            <a:off x="3225427" y="5142270"/>
            <a:ext cx="969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ea typeface="宋体" panose="02010600030101010101" pitchFamily="2" charset="-122"/>
              </a:rPr>
              <a:t>namd</a:t>
            </a:r>
            <a:endParaRPr lang="en-US" altLang="zh-CN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" name="圆角矩形 16">
            <a:extLst>
              <a:ext uri="{FF2B5EF4-FFF2-40B4-BE49-F238E27FC236}">
                <a16:creationId xmlns:a16="http://schemas.microsoft.com/office/drawing/2014/main" id="{8BD454C3-2ACB-4B75-949F-53E78BFB93C7}"/>
              </a:ext>
            </a:extLst>
          </p:cNvPr>
          <p:cNvSpPr/>
          <p:nvPr/>
        </p:nvSpPr>
        <p:spPr>
          <a:xfrm>
            <a:off x="4353121" y="5221712"/>
            <a:ext cx="1618615" cy="46355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SHPROP.*</a:t>
            </a:r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E878DEB1-FC2D-418B-B039-BB0E2B8AAA3D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5971736" y="5453487"/>
            <a:ext cx="9730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1" name="圆角矩形 30">
            <a:extLst>
              <a:ext uri="{FF2B5EF4-FFF2-40B4-BE49-F238E27FC236}">
                <a16:creationId xmlns:a16="http://schemas.microsoft.com/office/drawing/2014/main" id="{A32D415E-9AD3-4067-8799-182C67043986}"/>
              </a:ext>
            </a:extLst>
          </p:cNvPr>
          <p:cNvSpPr/>
          <p:nvPr/>
        </p:nvSpPr>
        <p:spPr>
          <a:xfrm>
            <a:off x="6857316" y="5234412"/>
            <a:ext cx="1618615" cy="46355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poen_fssh.py</a:t>
            </a:r>
            <a:r>
              <a:rPr lang="en-US" altLang="zh-CN" sz="1400" baseline="30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[3]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数据分析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A6EC14A-CBE5-4AAC-A02E-46E3EB89F7B3}"/>
              </a:ext>
            </a:extLst>
          </p:cNvPr>
          <p:cNvSpPr txBox="1"/>
          <p:nvPr/>
        </p:nvSpPr>
        <p:spPr>
          <a:xfrm>
            <a:off x="140675" y="5828713"/>
            <a:ext cx="617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[1].https://github.com/ZhenfaZheng/NAMDwithSOC/tree/master/scripts</a:t>
            </a:r>
          </a:p>
          <a:p>
            <a:r>
              <a:rPr lang="en-US" altLang="zh-CN" sz="1200" dirty="0"/>
              <a:t>[2].</a:t>
            </a:r>
            <a:r>
              <a:rPr lang="en-US" altLang="zh-CN" sz="1200" dirty="0">
                <a:hlinkClick r:id="rId3"/>
              </a:rPr>
              <a:t>https://github.com/WeibinChu/CA-NAC</a:t>
            </a:r>
            <a:endParaRPr lang="en-US" altLang="zh-CN" sz="1200" dirty="0"/>
          </a:p>
          <a:p>
            <a:r>
              <a:rPr lang="en-US" altLang="zh-CN" sz="1200" dirty="0"/>
              <a:t>[3].https://github.com/QijingZheng/Hefei-NAMD/tree/master/scripts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9084A767-AC4A-4816-BB81-AB6ACCC9D3EA}"/>
              </a:ext>
            </a:extLst>
          </p:cNvPr>
          <p:cNvSpPr/>
          <p:nvPr/>
        </p:nvSpPr>
        <p:spPr>
          <a:xfrm>
            <a:off x="243840" y="4089009"/>
            <a:ext cx="8595360" cy="165060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C192657-7300-486F-9311-438E4129E211}"/>
              </a:ext>
            </a:extLst>
          </p:cNvPr>
          <p:cNvSpPr txBox="1"/>
          <p:nvPr/>
        </p:nvSpPr>
        <p:spPr>
          <a:xfrm>
            <a:off x="5341035" y="3718560"/>
            <a:ext cx="3629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这些流程可选择做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做相位修正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01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页脚占位符 3">
            <a:extLst>
              <a:ext uri="{FF2B5EF4-FFF2-40B4-BE49-F238E27FC236}">
                <a16:creationId xmlns:a16="http://schemas.microsoft.com/office/drawing/2014/main" id="{CCCE8EA8-A371-4CD7-816F-1C7139FB64BB}"/>
              </a:ext>
            </a:extLst>
          </p:cNvPr>
          <p:cNvSpPr txBox="1">
            <a:spLocks/>
          </p:cNvSpPr>
          <p:nvPr/>
        </p:nvSpPr>
        <p:spPr>
          <a:xfrm>
            <a:off x="0" y="6590691"/>
            <a:ext cx="1266701" cy="194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Hefei-NAMD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2" name="日期占位符 2">
            <a:extLst>
              <a:ext uri="{FF2B5EF4-FFF2-40B4-BE49-F238E27FC236}">
                <a16:creationId xmlns:a16="http://schemas.microsoft.com/office/drawing/2014/main" id="{02B9F9E8-66D2-4EE5-84D5-8C6F09AB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4DA23657-DEA8-8047-AF42-532B8A05D942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标题 5">
            <a:extLst>
              <a:ext uri="{FF2B5EF4-FFF2-40B4-BE49-F238E27FC236}">
                <a16:creationId xmlns:a16="http://schemas.microsoft.com/office/drawing/2014/main" id="{925345BF-B928-456D-8C98-18DDC41A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NAMD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输入文件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D91277-C209-45CA-8616-4FF3BAA2C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82" y="1124541"/>
            <a:ext cx="3473766" cy="35076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1E64ABB-5B18-4F39-8C03-DFB60B6E6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442" y="1101823"/>
            <a:ext cx="3181096" cy="35837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C29950-24D8-4538-AD21-CDA84B60CE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9069"/>
          <a:stretch/>
        </p:blipFill>
        <p:spPr>
          <a:xfrm>
            <a:off x="5118958" y="4954332"/>
            <a:ext cx="1942770" cy="13082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AD6531-55B2-4B58-BCB4-F78B277458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3149" y="4816041"/>
            <a:ext cx="1227963" cy="150524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1030A6F-8F16-4667-A404-C9A1D94C4467}"/>
              </a:ext>
            </a:extLst>
          </p:cNvPr>
          <p:cNvSpPr txBox="1"/>
          <p:nvPr/>
        </p:nvSpPr>
        <p:spPr>
          <a:xfrm>
            <a:off x="1452715" y="665847"/>
            <a:ext cx="203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自旋绝热表象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F64FE2-195D-4382-A596-DDAADA50D949}"/>
              </a:ext>
            </a:extLst>
          </p:cNvPr>
          <p:cNvSpPr txBox="1"/>
          <p:nvPr/>
        </p:nvSpPr>
        <p:spPr>
          <a:xfrm>
            <a:off x="5514821" y="637449"/>
            <a:ext cx="203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自旋透热表象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889269-4B27-4AFB-9DBA-FF2D1EFEF8B8}"/>
              </a:ext>
            </a:extLst>
          </p:cNvPr>
          <p:cNvSpPr txBox="1"/>
          <p:nvPr/>
        </p:nvSpPr>
        <p:spPr>
          <a:xfrm>
            <a:off x="0" y="2279449"/>
            <a:ext cx="1296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</a:rPr>
              <a:t>inp</a:t>
            </a:r>
            <a:r>
              <a:rPr lang="zh-CN" altLang="en-US">
                <a:latin typeface="Times New Roman" panose="02020603050405020304" charset="0"/>
                <a:ea typeface="宋体" panose="02010600030101010101" pitchFamily="2" charset="-122"/>
              </a:rPr>
              <a:t>文件：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6D72C3-A919-4003-B8E2-6E972DFBFFEC}"/>
              </a:ext>
            </a:extLst>
          </p:cNvPr>
          <p:cNvSpPr txBox="1"/>
          <p:nvPr/>
        </p:nvSpPr>
        <p:spPr>
          <a:xfrm>
            <a:off x="78566" y="5328395"/>
            <a:ext cx="144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INICON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文件：</a:t>
            </a:r>
          </a:p>
        </p:txBody>
      </p:sp>
      <p:sp>
        <p:nvSpPr>
          <p:cNvPr id="17" name="圆角矩形 14">
            <a:extLst>
              <a:ext uri="{FF2B5EF4-FFF2-40B4-BE49-F238E27FC236}">
                <a16:creationId xmlns:a16="http://schemas.microsoft.com/office/drawing/2014/main" id="{5AE959A1-1B83-4E66-A841-AEB86ED79200}"/>
              </a:ext>
            </a:extLst>
          </p:cNvPr>
          <p:cNvSpPr/>
          <p:nvPr/>
        </p:nvSpPr>
        <p:spPr>
          <a:xfrm>
            <a:off x="5195628" y="1251419"/>
            <a:ext cx="2710239" cy="6739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07177C-1F89-4F5C-83B6-6C38AD857B6F}"/>
              </a:ext>
            </a:extLst>
          </p:cNvPr>
          <p:cNvSpPr txBox="1"/>
          <p:nvPr/>
        </p:nvSpPr>
        <p:spPr>
          <a:xfrm>
            <a:off x="7109358" y="5218367"/>
            <a:ext cx="2074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第三列指定带的自旋：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：自旋向上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：自旋向下</a:t>
            </a:r>
          </a:p>
        </p:txBody>
      </p:sp>
    </p:spTree>
    <p:extLst>
      <p:ext uri="{BB962C8B-B14F-4D97-AF65-F5344CB8AC3E}">
        <p14:creationId xmlns:p14="http://schemas.microsoft.com/office/powerpoint/2010/main" val="170944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NAMD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输入文件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A3737D43-4CBD-8240-BB2C-BE8E9FD84273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B920AE3-6F78-433C-9C7E-B17D086A83E2}"/>
              </a:ext>
            </a:extLst>
          </p:cNvPr>
          <p:cNvCxnSpPr/>
          <p:nvPr/>
        </p:nvCxnSpPr>
        <p:spPr>
          <a:xfrm>
            <a:off x="1535288" y="2073719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4E3A09B-DADB-44E9-AF93-3E6C37103B48}"/>
              </a:ext>
            </a:extLst>
          </p:cNvPr>
          <p:cNvCxnSpPr/>
          <p:nvPr/>
        </p:nvCxnSpPr>
        <p:spPr>
          <a:xfrm>
            <a:off x="1535288" y="2669349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23F2576-AC90-4257-B6A4-8961AAFB31BF}"/>
              </a:ext>
            </a:extLst>
          </p:cNvPr>
          <p:cNvCxnSpPr/>
          <p:nvPr/>
        </p:nvCxnSpPr>
        <p:spPr>
          <a:xfrm>
            <a:off x="1535288" y="2371534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274774A-F78C-4AD5-B409-4BD57FAD3C73}"/>
              </a:ext>
            </a:extLst>
          </p:cNvPr>
          <p:cNvCxnSpPr/>
          <p:nvPr/>
        </p:nvCxnSpPr>
        <p:spPr>
          <a:xfrm>
            <a:off x="1535288" y="1775904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40FA37-0C97-4DD7-BA28-FB4E58CB5DAD}"/>
              </a:ext>
            </a:extLst>
          </p:cNvPr>
          <p:cNvCxnSpPr/>
          <p:nvPr/>
        </p:nvCxnSpPr>
        <p:spPr>
          <a:xfrm>
            <a:off x="1535288" y="1478089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8030C49-2F3C-454F-8799-32A0CFC3F2F5}"/>
              </a:ext>
            </a:extLst>
          </p:cNvPr>
          <p:cNvCxnSpPr/>
          <p:nvPr/>
        </p:nvCxnSpPr>
        <p:spPr>
          <a:xfrm>
            <a:off x="1535288" y="1180274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2E74372-6C2B-4274-AD0E-AA4341B6258F}"/>
              </a:ext>
            </a:extLst>
          </p:cNvPr>
          <p:cNvCxnSpPr/>
          <p:nvPr/>
        </p:nvCxnSpPr>
        <p:spPr>
          <a:xfrm>
            <a:off x="1535288" y="882459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EAF01D4-E2E1-4444-86C2-4DEC7C7C003E}"/>
              </a:ext>
            </a:extLst>
          </p:cNvPr>
          <p:cNvGrpSpPr/>
          <p:nvPr/>
        </p:nvGrpSpPr>
        <p:grpSpPr>
          <a:xfrm>
            <a:off x="2011538" y="1062165"/>
            <a:ext cx="266700" cy="266700"/>
            <a:chOff x="4857750" y="1714500"/>
            <a:chExt cx="266700" cy="2667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1ACFF16-5F4E-4D23-89DE-FBB7097537C2}"/>
                </a:ext>
              </a:extLst>
            </p:cNvPr>
            <p:cNvSpPr/>
            <p:nvPr/>
          </p:nvSpPr>
          <p:spPr>
            <a:xfrm>
              <a:off x="4857750" y="1714500"/>
              <a:ext cx="266700" cy="2667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731FB10-901A-4F4E-95D7-11B17DDAB7F9}"/>
                </a:ext>
              </a:extLst>
            </p:cNvPr>
            <p:cNvCxnSpPr/>
            <p:nvPr/>
          </p:nvCxnSpPr>
          <p:spPr>
            <a:xfrm>
              <a:off x="4905375" y="1847850"/>
              <a:ext cx="1828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7B9A6-2700-43C9-A53D-565727ECA5C8}"/>
              </a:ext>
            </a:extLst>
          </p:cNvPr>
          <p:cNvCxnSpPr/>
          <p:nvPr/>
        </p:nvCxnSpPr>
        <p:spPr>
          <a:xfrm>
            <a:off x="3703813" y="2073719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FD20827-B9C6-4092-833F-76CAE769F833}"/>
              </a:ext>
            </a:extLst>
          </p:cNvPr>
          <p:cNvCxnSpPr/>
          <p:nvPr/>
        </p:nvCxnSpPr>
        <p:spPr>
          <a:xfrm>
            <a:off x="3703813" y="2669349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3BA8FD6-3FD4-4386-98EC-600AEA06120B}"/>
              </a:ext>
            </a:extLst>
          </p:cNvPr>
          <p:cNvCxnSpPr/>
          <p:nvPr/>
        </p:nvCxnSpPr>
        <p:spPr>
          <a:xfrm>
            <a:off x="3703813" y="2371534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458B48D-AE73-4A78-96E7-805F0924A20C}"/>
              </a:ext>
            </a:extLst>
          </p:cNvPr>
          <p:cNvCxnSpPr/>
          <p:nvPr/>
        </p:nvCxnSpPr>
        <p:spPr>
          <a:xfrm>
            <a:off x="3703813" y="1775904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CB79B97-8FB6-4125-80A8-667610D2A4D1}"/>
              </a:ext>
            </a:extLst>
          </p:cNvPr>
          <p:cNvCxnSpPr/>
          <p:nvPr/>
        </p:nvCxnSpPr>
        <p:spPr>
          <a:xfrm>
            <a:off x="3703813" y="1478089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BAB836C-0F61-4406-B861-B592A3E38625}"/>
              </a:ext>
            </a:extLst>
          </p:cNvPr>
          <p:cNvCxnSpPr/>
          <p:nvPr/>
        </p:nvCxnSpPr>
        <p:spPr>
          <a:xfrm>
            <a:off x="3703813" y="1180274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C85056D-E5A9-4C7D-914C-17A546548667}"/>
              </a:ext>
            </a:extLst>
          </p:cNvPr>
          <p:cNvCxnSpPr/>
          <p:nvPr/>
        </p:nvCxnSpPr>
        <p:spPr>
          <a:xfrm>
            <a:off x="3703813" y="882459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1CBEB63-8B64-4FCB-9697-CCAAA82D40A5}"/>
              </a:ext>
            </a:extLst>
          </p:cNvPr>
          <p:cNvGrpSpPr/>
          <p:nvPr/>
        </p:nvGrpSpPr>
        <p:grpSpPr>
          <a:xfrm>
            <a:off x="4180063" y="2536000"/>
            <a:ext cx="266700" cy="266700"/>
            <a:chOff x="4857750" y="1714500"/>
            <a:chExt cx="266700" cy="26670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12FEB9B-6171-4103-8626-A01DF791A1BA}"/>
                </a:ext>
              </a:extLst>
            </p:cNvPr>
            <p:cNvSpPr/>
            <p:nvPr/>
          </p:nvSpPr>
          <p:spPr>
            <a:xfrm>
              <a:off x="4857750" y="1714500"/>
              <a:ext cx="266700" cy="2667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EC64534-00DA-498A-A31F-FB9A70833925}"/>
                </a:ext>
              </a:extLst>
            </p:cNvPr>
            <p:cNvCxnSpPr/>
            <p:nvPr/>
          </p:nvCxnSpPr>
          <p:spPr>
            <a:xfrm>
              <a:off x="4905375" y="1847850"/>
              <a:ext cx="1828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B7599303-9F97-4CA8-AD06-184E1621E133}"/>
              </a:ext>
            </a:extLst>
          </p:cNvPr>
          <p:cNvSpPr txBox="1"/>
          <p:nvPr/>
        </p:nvSpPr>
        <p:spPr>
          <a:xfrm>
            <a:off x="126608" y="705938"/>
            <a:ext cx="1172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电子弛豫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3647BF9-3C79-40B2-862B-0817AE404E48}"/>
              </a:ext>
            </a:extLst>
          </p:cNvPr>
          <p:cNvSpPr txBox="1"/>
          <p:nvPr/>
        </p:nvSpPr>
        <p:spPr>
          <a:xfrm>
            <a:off x="5304537" y="682035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BMAXD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9328189-B128-4CF5-B60F-F7FAA9A42CB9}"/>
              </a:ext>
            </a:extLst>
          </p:cNvPr>
          <p:cNvSpPr txBox="1"/>
          <p:nvPr/>
        </p:nvSpPr>
        <p:spPr>
          <a:xfrm>
            <a:off x="4978832" y="248404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6BF32C4-4521-49FA-8157-B5E5FD888420}"/>
              </a:ext>
            </a:extLst>
          </p:cNvPr>
          <p:cNvSpPr txBox="1"/>
          <p:nvPr/>
        </p:nvSpPr>
        <p:spPr>
          <a:xfrm>
            <a:off x="4978832" y="218559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71D12EE-071D-4655-A870-4F05294C2F7B}"/>
              </a:ext>
            </a:extLst>
          </p:cNvPr>
          <p:cNvSpPr txBox="1"/>
          <p:nvPr/>
        </p:nvSpPr>
        <p:spPr>
          <a:xfrm>
            <a:off x="4978832" y="188714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8DD9C5-3810-4509-A3FD-C14F7E233A0D}"/>
              </a:ext>
            </a:extLst>
          </p:cNvPr>
          <p:cNvSpPr txBox="1"/>
          <p:nvPr/>
        </p:nvSpPr>
        <p:spPr>
          <a:xfrm>
            <a:off x="4978832" y="158869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C3119D-D635-4EA1-A9A7-6D5CDD196081}"/>
              </a:ext>
            </a:extLst>
          </p:cNvPr>
          <p:cNvSpPr txBox="1"/>
          <p:nvPr/>
        </p:nvSpPr>
        <p:spPr>
          <a:xfrm>
            <a:off x="4978832" y="129024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6A07692-7CBC-473E-A02C-015636875DFA}"/>
              </a:ext>
            </a:extLst>
          </p:cNvPr>
          <p:cNvSpPr txBox="1"/>
          <p:nvPr/>
        </p:nvSpPr>
        <p:spPr>
          <a:xfrm>
            <a:off x="4978832" y="99179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2D4F8F5-0F62-4743-8696-D1D0F11EEF42}"/>
              </a:ext>
            </a:extLst>
          </p:cNvPr>
          <p:cNvSpPr txBox="1"/>
          <p:nvPr/>
        </p:nvSpPr>
        <p:spPr>
          <a:xfrm>
            <a:off x="4978832" y="693348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56D83F3-5DFB-4304-B2B5-82E7E344B240}"/>
              </a:ext>
            </a:extLst>
          </p:cNvPr>
          <p:cNvSpPr txBox="1"/>
          <p:nvPr/>
        </p:nvSpPr>
        <p:spPr>
          <a:xfrm>
            <a:off x="5276139" y="1588980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BMAXU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D4E5F5D-6349-467D-8A46-2AD861A0B121}"/>
              </a:ext>
            </a:extLst>
          </p:cNvPr>
          <p:cNvSpPr txBox="1"/>
          <p:nvPr/>
        </p:nvSpPr>
        <p:spPr>
          <a:xfrm>
            <a:off x="5276139" y="2167465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BMINU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7F15A91-A095-4622-9845-605664F71B0C}"/>
              </a:ext>
            </a:extLst>
          </p:cNvPr>
          <p:cNvSpPr txBox="1"/>
          <p:nvPr/>
        </p:nvSpPr>
        <p:spPr>
          <a:xfrm>
            <a:off x="5276139" y="2484330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BMIND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FA95559-030F-44B0-9C38-22D930DD5502}"/>
              </a:ext>
            </a:extLst>
          </p:cNvPr>
          <p:cNvSpPr/>
          <p:nvPr/>
        </p:nvSpPr>
        <p:spPr>
          <a:xfrm>
            <a:off x="2011821" y="2535842"/>
            <a:ext cx="266700" cy="266700"/>
          </a:xfrm>
          <a:prstGeom prst="ellipse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 w="28575">
            <a:solidFill>
              <a:schemeClr val="tx1">
                <a:alpha val="3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曲线连接符 5">
            <a:extLst>
              <a:ext uri="{FF2B5EF4-FFF2-40B4-BE49-F238E27FC236}">
                <a16:creationId xmlns:a16="http://schemas.microsoft.com/office/drawing/2014/main" id="{6F99C081-C51C-435F-879D-11FD57877D13}"/>
              </a:ext>
            </a:extLst>
          </p:cNvPr>
          <p:cNvCxnSpPr/>
          <p:nvPr/>
        </p:nvCxnSpPr>
        <p:spPr>
          <a:xfrm>
            <a:off x="2278304" y="1195280"/>
            <a:ext cx="1838325" cy="1405890"/>
          </a:xfrm>
          <a:prstGeom prst="curvedConnector3">
            <a:avLst>
              <a:gd name="adj1" fmla="val 50017"/>
            </a:avLst>
          </a:prstGeom>
          <a:ln w="28575" cmpd="sng">
            <a:gradFill>
              <a:gsLst>
                <a:gs pos="23000">
                  <a:srgbClr val="89CAF0">
                    <a:alpha val="100000"/>
                  </a:srgbClr>
                </a:gs>
                <a:gs pos="0">
                  <a:srgbClr val="0000FF"/>
                </a:gs>
                <a:gs pos="53000">
                  <a:srgbClr val="FFFFFF"/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852B358-489B-40E9-81BE-14F9B8DF4A81}"/>
              </a:ext>
            </a:extLst>
          </p:cNvPr>
          <p:cNvCxnSpPr/>
          <p:nvPr/>
        </p:nvCxnSpPr>
        <p:spPr>
          <a:xfrm>
            <a:off x="6633068" y="1589214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8890544-D320-4B8D-8D2F-5217A1230F5E}"/>
              </a:ext>
            </a:extLst>
          </p:cNvPr>
          <p:cNvCxnSpPr/>
          <p:nvPr/>
        </p:nvCxnSpPr>
        <p:spPr>
          <a:xfrm>
            <a:off x="6633068" y="2030539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57769D58-8F9C-45FF-AC63-3605E955187E}"/>
              </a:ext>
            </a:extLst>
          </p:cNvPr>
          <p:cNvSpPr txBox="1"/>
          <p:nvPr/>
        </p:nvSpPr>
        <p:spPr>
          <a:xfrm>
            <a:off x="7960244" y="1373294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Spin down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549940E-7BBA-43F8-980E-65BD01075E41}"/>
              </a:ext>
            </a:extLst>
          </p:cNvPr>
          <p:cNvSpPr txBox="1"/>
          <p:nvPr/>
        </p:nvSpPr>
        <p:spPr>
          <a:xfrm>
            <a:off x="7976613" y="1828939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Spin up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B1B42F-EA0A-424F-B2E8-3E7405D0C439}"/>
              </a:ext>
            </a:extLst>
          </p:cNvPr>
          <p:cNvSpPr txBox="1"/>
          <p:nvPr/>
        </p:nvSpPr>
        <p:spPr>
          <a:xfrm>
            <a:off x="65649" y="3212330"/>
            <a:ext cx="136264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空穴弛豫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BB6BCC0-0264-4823-A2C2-740FB4E85162}"/>
              </a:ext>
            </a:extLst>
          </p:cNvPr>
          <p:cNvCxnSpPr/>
          <p:nvPr/>
        </p:nvCxnSpPr>
        <p:spPr>
          <a:xfrm>
            <a:off x="1589214" y="5255362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800594B-8CFE-4EBB-929F-FEA97C012ABC}"/>
              </a:ext>
            </a:extLst>
          </p:cNvPr>
          <p:cNvCxnSpPr/>
          <p:nvPr/>
        </p:nvCxnSpPr>
        <p:spPr>
          <a:xfrm>
            <a:off x="1589214" y="5850992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8623BFC1-8C84-428A-9475-8B5BFC5CA1A2}"/>
              </a:ext>
            </a:extLst>
          </p:cNvPr>
          <p:cNvCxnSpPr/>
          <p:nvPr/>
        </p:nvCxnSpPr>
        <p:spPr>
          <a:xfrm>
            <a:off x="1589214" y="5553177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E07AB57-2197-4364-9BE2-9B65942F5B50}"/>
              </a:ext>
            </a:extLst>
          </p:cNvPr>
          <p:cNvCxnSpPr/>
          <p:nvPr/>
        </p:nvCxnSpPr>
        <p:spPr>
          <a:xfrm>
            <a:off x="1589214" y="4957547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F706232-852B-4363-8BBB-E2CDEFDBA596}"/>
              </a:ext>
            </a:extLst>
          </p:cNvPr>
          <p:cNvCxnSpPr/>
          <p:nvPr/>
        </p:nvCxnSpPr>
        <p:spPr>
          <a:xfrm>
            <a:off x="1589214" y="4659732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102CE65-E90B-4105-A376-8D4FF2575C8F}"/>
              </a:ext>
            </a:extLst>
          </p:cNvPr>
          <p:cNvCxnSpPr/>
          <p:nvPr/>
        </p:nvCxnSpPr>
        <p:spPr>
          <a:xfrm>
            <a:off x="1589214" y="4361917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62AEF90-3F78-4F2C-BF9F-3510B32B2403}"/>
              </a:ext>
            </a:extLst>
          </p:cNvPr>
          <p:cNvCxnSpPr/>
          <p:nvPr/>
        </p:nvCxnSpPr>
        <p:spPr>
          <a:xfrm>
            <a:off x="1579835" y="6150810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0E928F76-C048-4B8A-B5CD-F1A8CAE6F1FF}"/>
              </a:ext>
            </a:extLst>
          </p:cNvPr>
          <p:cNvCxnSpPr/>
          <p:nvPr/>
        </p:nvCxnSpPr>
        <p:spPr>
          <a:xfrm>
            <a:off x="3757739" y="5255362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191995B-D9EE-4E4F-98F9-35D3DC269931}"/>
              </a:ext>
            </a:extLst>
          </p:cNvPr>
          <p:cNvCxnSpPr/>
          <p:nvPr/>
        </p:nvCxnSpPr>
        <p:spPr>
          <a:xfrm>
            <a:off x="3757739" y="5850992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098C138-A84A-495F-9E7D-3D72AF5E3072}"/>
              </a:ext>
            </a:extLst>
          </p:cNvPr>
          <p:cNvCxnSpPr/>
          <p:nvPr/>
        </p:nvCxnSpPr>
        <p:spPr>
          <a:xfrm>
            <a:off x="3757739" y="5553177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03B6BD9-3DAA-4690-8EC4-3B05961C0E67}"/>
              </a:ext>
            </a:extLst>
          </p:cNvPr>
          <p:cNvCxnSpPr/>
          <p:nvPr/>
        </p:nvCxnSpPr>
        <p:spPr>
          <a:xfrm>
            <a:off x="3757739" y="4957547"/>
            <a:ext cx="1219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D6A3162F-5959-4111-8456-3A85B4D1EE99}"/>
              </a:ext>
            </a:extLst>
          </p:cNvPr>
          <p:cNvCxnSpPr/>
          <p:nvPr/>
        </p:nvCxnSpPr>
        <p:spPr>
          <a:xfrm>
            <a:off x="3757739" y="4659732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24D8B73-6C53-42DF-A908-9AC5A6C7D82C}"/>
              </a:ext>
            </a:extLst>
          </p:cNvPr>
          <p:cNvCxnSpPr/>
          <p:nvPr/>
        </p:nvCxnSpPr>
        <p:spPr>
          <a:xfrm>
            <a:off x="3757739" y="4361917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7010EB2-A4B6-4921-A67C-7B06671D5598}"/>
              </a:ext>
            </a:extLst>
          </p:cNvPr>
          <p:cNvCxnSpPr/>
          <p:nvPr/>
        </p:nvCxnSpPr>
        <p:spPr>
          <a:xfrm>
            <a:off x="3776496" y="6150810"/>
            <a:ext cx="12192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0958584-1DAC-4A65-9DBA-C5241484FE89}"/>
              </a:ext>
            </a:extLst>
          </p:cNvPr>
          <p:cNvSpPr txBox="1"/>
          <p:nvPr/>
        </p:nvSpPr>
        <p:spPr>
          <a:xfrm>
            <a:off x="5344395" y="4121585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BMAXD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2E210A8-0BBE-449D-B4BB-615A9B7A86DD}"/>
              </a:ext>
            </a:extLst>
          </p:cNvPr>
          <p:cNvSpPr txBox="1"/>
          <p:nvPr/>
        </p:nvSpPr>
        <p:spPr>
          <a:xfrm>
            <a:off x="5032758" y="5665691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1C42D7-B16E-4653-9F9D-F8007029EF3C}"/>
              </a:ext>
            </a:extLst>
          </p:cNvPr>
          <p:cNvSpPr txBox="1"/>
          <p:nvPr/>
        </p:nvSpPr>
        <p:spPr>
          <a:xfrm>
            <a:off x="5032758" y="5367241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28EDD03-0DD0-4408-98A0-FFEE46359365}"/>
              </a:ext>
            </a:extLst>
          </p:cNvPr>
          <p:cNvSpPr txBox="1"/>
          <p:nvPr/>
        </p:nvSpPr>
        <p:spPr>
          <a:xfrm>
            <a:off x="5032758" y="5068791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5FBB282-EEAD-4D5B-A44A-3C4C92E1A082}"/>
              </a:ext>
            </a:extLst>
          </p:cNvPr>
          <p:cNvSpPr txBox="1"/>
          <p:nvPr/>
        </p:nvSpPr>
        <p:spPr>
          <a:xfrm>
            <a:off x="5032758" y="4770341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1ED7E38-5D59-436D-888A-25096BE70028}"/>
              </a:ext>
            </a:extLst>
          </p:cNvPr>
          <p:cNvSpPr txBox="1"/>
          <p:nvPr/>
        </p:nvSpPr>
        <p:spPr>
          <a:xfrm>
            <a:off x="5032758" y="4471891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B73CBF6-E0C7-41B9-89B8-54D342875E4E}"/>
              </a:ext>
            </a:extLst>
          </p:cNvPr>
          <p:cNvSpPr txBox="1"/>
          <p:nvPr/>
        </p:nvSpPr>
        <p:spPr>
          <a:xfrm>
            <a:off x="5032758" y="4173441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6644EEF-30EA-430F-8A31-819B46E40F2D}"/>
              </a:ext>
            </a:extLst>
          </p:cNvPr>
          <p:cNvSpPr txBox="1"/>
          <p:nvPr/>
        </p:nvSpPr>
        <p:spPr>
          <a:xfrm>
            <a:off x="5046826" y="5971077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7D388F9-2AB9-445C-8B23-04172B51FF37}"/>
              </a:ext>
            </a:extLst>
          </p:cNvPr>
          <p:cNvSpPr txBox="1"/>
          <p:nvPr/>
        </p:nvSpPr>
        <p:spPr>
          <a:xfrm>
            <a:off x="5330065" y="4770623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BMAXU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0B8F95A-A77A-4584-9CA8-41DD8F7EB9D8}"/>
              </a:ext>
            </a:extLst>
          </p:cNvPr>
          <p:cNvSpPr txBox="1"/>
          <p:nvPr/>
        </p:nvSpPr>
        <p:spPr>
          <a:xfrm>
            <a:off x="5330065" y="5349108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BMINU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C29CDF3-870B-4011-BF56-CD0FD040ACCE}"/>
              </a:ext>
            </a:extLst>
          </p:cNvPr>
          <p:cNvSpPr txBox="1"/>
          <p:nvPr/>
        </p:nvSpPr>
        <p:spPr>
          <a:xfrm>
            <a:off x="5353512" y="5975463"/>
            <a:ext cx="1241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BMIND</a:t>
            </a:r>
          </a:p>
        </p:txBody>
      </p:sp>
      <p:cxnSp>
        <p:nvCxnSpPr>
          <p:cNvPr id="84" name="曲线连接符 5">
            <a:extLst>
              <a:ext uri="{FF2B5EF4-FFF2-40B4-BE49-F238E27FC236}">
                <a16:creationId xmlns:a16="http://schemas.microsoft.com/office/drawing/2014/main" id="{7F3A0A8C-30D4-48E6-8977-1BD87BDCB9E4}"/>
              </a:ext>
            </a:extLst>
          </p:cNvPr>
          <p:cNvCxnSpPr>
            <a:cxnSpLocks/>
            <a:stCxn id="60" idx="6"/>
          </p:cNvCxnSpPr>
          <p:nvPr/>
        </p:nvCxnSpPr>
        <p:spPr>
          <a:xfrm flipV="1">
            <a:off x="2318097" y="4239065"/>
            <a:ext cx="1747466" cy="1605823"/>
          </a:xfrm>
          <a:prstGeom prst="curvedConnector3">
            <a:avLst>
              <a:gd name="adj1" fmla="val 50000"/>
            </a:avLst>
          </a:prstGeom>
          <a:ln w="28575" cmpd="sng">
            <a:gradFill>
              <a:gsLst>
                <a:gs pos="23000">
                  <a:srgbClr val="89CAF0">
                    <a:alpha val="100000"/>
                  </a:srgbClr>
                </a:gs>
                <a:gs pos="0">
                  <a:srgbClr val="0000FF"/>
                </a:gs>
                <a:gs pos="53000">
                  <a:srgbClr val="FFFFFF"/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AD0E74A7-2A9E-43D7-A762-A217E8A7866E}"/>
              </a:ext>
            </a:extLst>
          </p:cNvPr>
          <p:cNvGrpSpPr/>
          <p:nvPr/>
        </p:nvGrpSpPr>
        <p:grpSpPr>
          <a:xfrm>
            <a:off x="2051397" y="5711538"/>
            <a:ext cx="266700" cy="266700"/>
            <a:chOff x="1136997" y="4192227"/>
            <a:chExt cx="266700" cy="266700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705CA861-7D7C-4138-9A85-F6B78052E653}"/>
                </a:ext>
              </a:extLst>
            </p:cNvPr>
            <p:cNvGrpSpPr/>
            <p:nvPr/>
          </p:nvGrpSpPr>
          <p:grpSpPr>
            <a:xfrm>
              <a:off x="1136997" y="4192227"/>
              <a:ext cx="266700" cy="266700"/>
              <a:chOff x="1141686" y="4196916"/>
              <a:chExt cx="266700" cy="266700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C2B43253-32FE-4F36-99D4-56BF4EEECCE5}"/>
                  </a:ext>
                </a:extLst>
              </p:cNvPr>
              <p:cNvSpPr/>
              <p:nvPr/>
            </p:nvSpPr>
            <p:spPr>
              <a:xfrm>
                <a:off x="1141686" y="4196916"/>
                <a:ext cx="266700" cy="2667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18473FD-68C0-4463-BDA2-F934AE3143A0}"/>
                  </a:ext>
                </a:extLst>
              </p:cNvPr>
              <p:cNvCxnSpPr/>
              <p:nvPr/>
            </p:nvCxnSpPr>
            <p:spPr>
              <a:xfrm>
                <a:off x="1189311" y="4330266"/>
                <a:ext cx="182880" cy="0"/>
              </a:xfrm>
              <a:prstGeom prst="lin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DCAB1244-DAFE-4085-B0BF-3A6360A5F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1374" y="4210930"/>
              <a:ext cx="0" cy="234224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8012BE58-C6B3-4573-865B-FB10F67A2011}"/>
              </a:ext>
            </a:extLst>
          </p:cNvPr>
          <p:cNvGrpSpPr/>
          <p:nvPr/>
        </p:nvGrpSpPr>
        <p:grpSpPr>
          <a:xfrm>
            <a:off x="4243612" y="4199261"/>
            <a:ext cx="266700" cy="266700"/>
            <a:chOff x="1136997" y="4192227"/>
            <a:chExt cx="266700" cy="266700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D68FDCFC-36C8-4AFE-AC4F-9D5C706E9302}"/>
                </a:ext>
              </a:extLst>
            </p:cNvPr>
            <p:cNvGrpSpPr/>
            <p:nvPr/>
          </p:nvGrpSpPr>
          <p:grpSpPr>
            <a:xfrm>
              <a:off x="1136997" y="4192227"/>
              <a:ext cx="266700" cy="266700"/>
              <a:chOff x="1141686" y="4196916"/>
              <a:chExt cx="266700" cy="266700"/>
            </a:xfrm>
          </p:grpSpPr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2F3B9E9D-4670-4745-B6F1-571725CA54B5}"/>
                  </a:ext>
                </a:extLst>
              </p:cNvPr>
              <p:cNvSpPr/>
              <p:nvPr/>
            </p:nvSpPr>
            <p:spPr>
              <a:xfrm>
                <a:off x="1141686" y="4196916"/>
                <a:ext cx="266700" cy="2667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94ED460D-7A03-4F07-ABF8-617DA7704296}"/>
                  </a:ext>
                </a:extLst>
              </p:cNvPr>
              <p:cNvCxnSpPr/>
              <p:nvPr/>
            </p:nvCxnSpPr>
            <p:spPr>
              <a:xfrm>
                <a:off x="1189311" y="4330266"/>
                <a:ext cx="182880" cy="0"/>
              </a:xfrm>
              <a:prstGeom prst="lin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3632D94-7F32-4EBE-A24C-A5ED9BDCD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1374" y="4210930"/>
              <a:ext cx="0" cy="234224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61888E9-D4CC-4B19-8705-5A21F25BEA5A}"/>
              </a:ext>
            </a:extLst>
          </p:cNvPr>
          <p:cNvSpPr txBox="1"/>
          <p:nvPr/>
        </p:nvSpPr>
        <p:spPr>
          <a:xfrm>
            <a:off x="1931962" y="3165231"/>
            <a:ext cx="6972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注意</a:t>
            </a:r>
            <a:r>
              <a:rPr lang="en-US" altLang="zh-CN" sz="1600" dirty="0"/>
              <a:t>: 1.</a:t>
            </a:r>
            <a:r>
              <a:rPr lang="zh-CN" altLang="en-US" sz="1600" dirty="0"/>
              <a:t>对于电子来说</a:t>
            </a:r>
            <a:r>
              <a:rPr lang="en-US" altLang="zh-CN" sz="1600" dirty="0"/>
              <a:t>BMAX</a:t>
            </a:r>
            <a:r>
              <a:rPr lang="zh-CN" altLang="en-US" sz="1600" dirty="0"/>
              <a:t>≥电子初始带号</a:t>
            </a:r>
            <a:r>
              <a:rPr lang="en-US" altLang="zh-CN" sz="1600" dirty="0"/>
              <a:t>(INICON</a:t>
            </a:r>
            <a:r>
              <a:rPr lang="zh-CN" altLang="en-US" sz="1600" dirty="0"/>
              <a:t>写入</a:t>
            </a:r>
            <a:r>
              <a:rPr lang="en-US" altLang="zh-CN" sz="1600" dirty="0"/>
              <a:t>);BMIN</a:t>
            </a:r>
            <a:r>
              <a:rPr lang="zh-CN" altLang="en-US" sz="1600" dirty="0"/>
              <a:t>不可随意调整。</a:t>
            </a:r>
            <a:endParaRPr lang="en-US" altLang="zh-CN" sz="1600" dirty="0"/>
          </a:p>
          <a:p>
            <a:r>
              <a:rPr lang="en-US" altLang="zh-CN" sz="1600" dirty="0"/>
              <a:t>           2.</a:t>
            </a:r>
            <a:r>
              <a:rPr lang="zh-CN" altLang="en-US" sz="1600" dirty="0"/>
              <a:t>对于空穴来说</a:t>
            </a:r>
            <a:r>
              <a:rPr lang="en-US" altLang="zh-CN" sz="1600" dirty="0"/>
              <a:t>BMIN</a:t>
            </a:r>
            <a:r>
              <a:rPr lang="zh-CN" altLang="en-US" sz="1600" dirty="0"/>
              <a:t>≤空穴初始带号</a:t>
            </a:r>
            <a:r>
              <a:rPr lang="en-US" altLang="zh-CN" sz="1600" dirty="0"/>
              <a:t>(INICON</a:t>
            </a:r>
            <a:r>
              <a:rPr lang="zh-CN" altLang="en-US" sz="1600" dirty="0"/>
              <a:t>写入</a:t>
            </a:r>
            <a:r>
              <a:rPr lang="en-US" altLang="zh-CN" sz="1600" dirty="0"/>
              <a:t>);BMAX</a:t>
            </a:r>
            <a:r>
              <a:rPr lang="zh-CN" altLang="en-US" sz="1600" dirty="0"/>
              <a:t>不可随意调整。</a:t>
            </a:r>
          </a:p>
        </p:txBody>
      </p:sp>
    </p:spTree>
    <p:extLst>
      <p:ext uri="{BB962C8B-B14F-4D97-AF65-F5344CB8AC3E}">
        <p14:creationId xmlns:p14="http://schemas.microsoft.com/office/powerpoint/2010/main" val="212167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NAMD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数据处理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8CE6E7A7-55CE-BC40-9E4A-FCD58F73D4FF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A6A249-66C9-42E1-BFE7-60593ABA3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43" y="1161617"/>
            <a:ext cx="3144128" cy="20960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48E4D4A-B305-459F-956A-346F0CA7E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9" y="3587262"/>
            <a:ext cx="3142800" cy="2095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F6EE644-E78A-480B-9F2C-B2FE3A03F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882" y="1143001"/>
            <a:ext cx="2766651" cy="20749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DF58C57-11D7-4F53-B168-86CC71D2C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443" y="1139483"/>
            <a:ext cx="2807286" cy="21054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CE03214-69BC-4A9A-A7A6-3B097E391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8674" y="3634001"/>
            <a:ext cx="3142800" cy="209520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D2856DA-2EFB-42FE-BCE9-5550E68B1ED8}"/>
              </a:ext>
            </a:extLst>
          </p:cNvPr>
          <p:cNvSpPr txBox="1"/>
          <p:nvPr/>
        </p:nvSpPr>
        <p:spPr>
          <a:xfrm>
            <a:off x="1161790" y="843347"/>
            <a:ext cx="1237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TDKSEN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6E9DDE-18B2-477B-9D3C-A1E1778115D4}"/>
              </a:ext>
            </a:extLst>
          </p:cNvPr>
          <p:cNvSpPr txBox="1"/>
          <p:nvPr/>
        </p:nvSpPr>
        <p:spPr>
          <a:xfrm>
            <a:off x="4158146" y="820629"/>
            <a:ext cx="1779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COUPLE_NA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7C693A-65F1-4FBB-9CBF-7E7420AE74DC}"/>
              </a:ext>
            </a:extLst>
          </p:cNvPr>
          <p:cNvSpPr txBox="1"/>
          <p:nvPr/>
        </p:nvSpPr>
        <p:spPr>
          <a:xfrm>
            <a:off x="6902122" y="797911"/>
            <a:ext cx="1779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COUPLE_SO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42E57AB-5A52-45C7-918F-3C04C53EE622}"/>
              </a:ext>
            </a:extLst>
          </p:cNvPr>
          <p:cNvSpPr txBox="1"/>
          <p:nvPr/>
        </p:nvSpPr>
        <p:spPr>
          <a:xfrm>
            <a:off x="1189033" y="5704610"/>
            <a:ext cx="1237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TDEN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11C644-F552-44B1-946F-2231F99F193B}"/>
              </a:ext>
            </a:extLst>
          </p:cNvPr>
          <p:cNvSpPr txBox="1"/>
          <p:nvPr/>
        </p:nvSpPr>
        <p:spPr>
          <a:xfrm>
            <a:off x="4477319" y="5702629"/>
            <a:ext cx="1237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TDWGT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13988C-4D1A-4260-91F7-17BF6C3ED542}"/>
              </a:ext>
            </a:extLst>
          </p:cNvPr>
          <p:cNvSpPr txBox="1"/>
          <p:nvPr/>
        </p:nvSpPr>
        <p:spPr>
          <a:xfrm>
            <a:off x="6556815" y="3805653"/>
            <a:ext cx="26246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TDKSEN:KS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轨道能级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COUPLE_NA: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非绝热耦合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COUPLE_SO: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自旋轨道耦合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仅在自旋透热表象给出</a:t>
            </a:r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TDEN: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能量弛豫曲线</a:t>
            </a:r>
            <a:endParaRPr lang="en-US" altLang="zh-CN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charset="0"/>
                <a:ea typeface="宋体" panose="02010600030101010101" pitchFamily="2" charset="-122"/>
              </a:rPr>
              <a:t>TDWGT:</a:t>
            </a:r>
            <a:r>
              <a:rPr lang="zh-CN" altLang="en-US" sz="1600" dirty="0">
                <a:latin typeface="Times New Roman" panose="02020603050405020304" charset="0"/>
                <a:ea typeface="宋体" panose="02010600030101010101" pitchFamily="2" charset="-122"/>
              </a:rPr>
              <a:t>自旋弛豫曲线</a:t>
            </a:r>
          </a:p>
        </p:txBody>
      </p:sp>
    </p:spTree>
    <p:extLst>
      <p:ext uri="{BB962C8B-B14F-4D97-AF65-F5344CB8AC3E}">
        <p14:creationId xmlns:p14="http://schemas.microsoft.com/office/powerpoint/2010/main" val="3764712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Ni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退磁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904524BD-7EF4-4A43-8A15-08734922D263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4BF4A4-07D1-433C-8364-4DC75652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96" y="1303726"/>
            <a:ext cx="8644406" cy="401250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60F91C1-15ED-462D-96A3-2AF261C48C3A}"/>
              </a:ext>
            </a:extLst>
          </p:cNvPr>
          <p:cNvSpPr txBox="1"/>
          <p:nvPr/>
        </p:nvSpPr>
        <p:spPr>
          <a:xfrm>
            <a:off x="300565" y="6151034"/>
            <a:ext cx="481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Z.F. Zheng, Q.J. Zheng, J. Zhao, 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Phys. Rev. B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085142 (2022)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D3450D-A721-4315-AA10-77574F0A549F}"/>
              </a:ext>
            </a:extLst>
          </p:cNvPr>
          <p:cNvSpPr txBox="1"/>
          <p:nvPr/>
        </p:nvSpPr>
        <p:spPr>
          <a:xfrm>
            <a:off x="5498949" y="5703911"/>
            <a:ext cx="3441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</a:t>
            </a:r>
            <a:r>
              <a:rPr lang="zh-CN" alt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作为微扰，自旋绝热和自旋透热表象均可用</a:t>
            </a:r>
          </a:p>
        </p:txBody>
      </p:sp>
    </p:spTree>
    <p:extLst>
      <p:ext uri="{BB962C8B-B14F-4D97-AF65-F5344CB8AC3E}">
        <p14:creationId xmlns:p14="http://schemas.microsoft.com/office/powerpoint/2010/main" val="3052691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Ni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退磁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7AFAA2CE-A855-A248-AEE1-DD06117E11E9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793D38-83A8-49BD-B04E-A11D25DAB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97" y="1062932"/>
            <a:ext cx="6874246" cy="50065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5752DC9-0C9E-4601-8ADF-CFFE096039F3}"/>
              </a:ext>
            </a:extLst>
          </p:cNvPr>
          <p:cNvSpPr txBox="1"/>
          <p:nvPr/>
        </p:nvSpPr>
        <p:spPr>
          <a:xfrm>
            <a:off x="300565" y="6151034"/>
            <a:ext cx="481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Z.F. Zheng, Q.J. Zheng, J. Zhao, 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Phys. Rev. B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085142 (2022)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59087C-51DD-42C1-B41B-028747A1C408}"/>
              </a:ext>
            </a:extLst>
          </p:cNvPr>
          <p:cNvSpPr txBox="1"/>
          <p:nvPr/>
        </p:nvSpPr>
        <p:spPr>
          <a:xfrm>
            <a:off x="7658679" y="5718481"/>
            <a:ext cx="1332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Ni</a:t>
            </a:r>
            <a:r>
              <a:rPr lang="zh-CN" altLang="en-US" dirty="0"/>
              <a:t>退磁过程</a:t>
            </a:r>
          </a:p>
        </p:txBody>
      </p:sp>
    </p:spTree>
    <p:extLst>
      <p:ext uri="{BB962C8B-B14F-4D97-AF65-F5344CB8AC3E}">
        <p14:creationId xmlns:p14="http://schemas.microsoft.com/office/powerpoint/2010/main" val="2284978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磁性原子掺杂的单层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谷间散射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EDB885FD-B42E-5B48-8D55-64293D05F88E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54CC0B3-07E0-44A8-8C3E-08FDC0FF758C}"/>
              </a:ext>
            </a:extLst>
          </p:cNvPr>
          <p:cNvGrpSpPr/>
          <p:nvPr/>
        </p:nvGrpSpPr>
        <p:grpSpPr>
          <a:xfrm>
            <a:off x="208794" y="986955"/>
            <a:ext cx="2893594" cy="2381854"/>
            <a:chOff x="179161" y="1168988"/>
            <a:chExt cx="2893594" cy="2381854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4339335-8AB3-4F07-95CF-A9905E7279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555" b="51763"/>
            <a:stretch/>
          </p:blipFill>
          <p:spPr>
            <a:xfrm>
              <a:off x="179161" y="1168988"/>
              <a:ext cx="2893594" cy="2381854"/>
            </a:xfrm>
            <a:prstGeom prst="rect">
              <a:avLst/>
            </a:prstGeom>
          </p:spPr>
        </p:pic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F82FCC4-0A8E-4BD7-BC06-22EB5A23A0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3147" y="1949482"/>
              <a:ext cx="0" cy="3241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9CB5378-F07F-48E5-B234-EF0662023555}"/>
                </a:ext>
              </a:extLst>
            </p:cNvPr>
            <p:cNvCxnSpPr/>
            <p:nvPr/>
          </p:nvCxnSpPr>
          <p:spPr>
            <a:xfrm>
              <a:off x="1359222" y="1340656"/>
              <a:ext cx="0" cy="427029"/>
            </a:xfrm>
            <a:prstGeom prst="straightConnector1">
              <a:avLst/>
            </a:prstGeom>
            <a:ln w="38100">
              <a:solidFill>
                <a:srgbClr val="0B1CF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60C0465-75BB-433F-82D8-0059BBAA2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3807" y="2561404"/>
              <a:ext cx="0" cy="3241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箭头: 下弧形 31">
              <a:extLst>
                <a:ext uri="{FF2B5EF4-FFF2-40B4-BE49-F238E27FC236}">
                  <a16:creationId xmlns:a16="http://schemas.microsoft.com/office/drawing/2014/main" id="{F4400E89-55F6-44CC-A286-E0D1247F2519}"/>
                </a:ext>
              </a:extLst>
            </p:cNvPr>
            <p:cNvSpPr/>
            <p:nvPr/>
          </p:nvSpPr>
          <p:spPr>
            <a:xfrm rot="16200000">
              <a:off x="1349320" y="2183907"/>
              <a:ext cx="695338" cy="449286"/>
            </a:xfrm>
            <a:prstGeom prst="curved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箭头: 上弧形 32">
              <a:extLst>
                <a:ext uri="{FF2B5EF4-FFF2-40B4-BE49-F238E27FC236}">
                  <a16:creationId xmlns:a16="http://schemas.microsoft.com/office/drawing/2014/main" id="{C1E39422-751B-409D-BF03-D537D58BC2E6}"/>
                </a:ext>
              </a:extLst>
            </p:cNvPr>
            <p:cNvSpPr/>
            <p:nvPr/>
          </p:nvSpPr>
          <p:spPr>
            <a:xfrm rot="16200000">
              <a:off x="668395" y="1545659"/>
              <a:ext cx="705526" cy="510579"/>
            </a:xfrm>
            <a:prstGeom prst="curvedDownArrow">
              <a:avLst/>
            </a:prstGeom>
            <a:gradFill flip="none" rotWithShape="0">
              <a:gsLst>
                <a:gs pos="50000">
                  <a:srgbClr val="0B1CFD"/>
                </a:gs>
                <a:gs pos="83000">
                  <a:srgbClr val="FF0000"/>
                </a:gs>
                <a:gs pos="100000">
                  <a:srgbClr val="FF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F3C0DE3-C1BC-4419-BBBA-10526D70FB04}"/>
              </a:ext>
            </a:extLst>
          </p:cNvPr>
          <p:cNvGrpSpPr/>
          <p:nvPr/>
        </p:nvGrpSpPr>
        <p:grpSpPr>
          <a:xfrm>
            <a:off x="225771" y="3424925"/>
            <a:ext cx="2893594" cy="2381854"/>
            <a:chOff x="187671" y="3674692"/>
            <a:chExt cx="2893594" cy="2381854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41D1E32-9EF8-4DA5-A8AC-3DEE751660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555" b="51763"/>
            <a:stretch/>
          </p:blipFill>
          <p:spPr>
            <a:xfrm>
              <a:off x="187671" y="3674692"/>
              <a:ext cx="2893594" cy="2381854"/>
            </a:xfrm>
            <a:prstGeom prst="rect">
              <a:avLst/>
            </a:prstGeom>
          </p:spPr>
        </p:pic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6A0984E0-75C3-4C58-80FB-CA1FC1D74C7E}"/>
                </a:ext>
              </a:extLst>
            </p:cNvPr>
            <p:cNvCxnSpPr/>
            <p:nvPr/>
          </p:nvCxnSpPr>
          <p:spPr>
            <a:xfrm>
              <a:off x="1367731" y="3864926"/>
              <a:ext cx="0" cy="427029"/>
            </a:xfrm>
            <a:prstGeom prst="straightConnector1">
              <a:avLst/>
            </a:prstGeom>
            <a:ln w="38100">
              <a:solidFill>
                <a:srgbClr val="0B1CF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7379315D-65F0-41CC-853F-B0145233FC4D}"/>
                </a:ext>
              </a:extLst>
            </p:cNvPr>
            <p:cNvCxnSpPr/>
            <p:nvPr/>
          </p:nvCxnSpPr>
          <p:spPr>
            <a:xfrm>
              <a:off x="1367732" y="4746835"/>
              <a:ext cx="0" cy="427029"/>
            </a:xfrm>
            <a:prstGeom prst="straightConnector1">
              <a:avLst/>
            </a:prstGeom>
            <a:ln w="38100">
              <a:solidFill>
                <a:srgbClr val="0B1CF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箭头: 左弧形 37">
              <a:extLst>
                <a:ext uri="{FF2B5EF4-FFF2-40B4-BE49-F238E27FC236}">
                  <a16:creationId xmlns:a16="http://schemas.microsoft.com/office/drawing/2014/main" id="{C16BF3AC-4377-4018-B5A3-2B450B423E08}"/>
                </a:ext>
              </a:extLst>
            </p:cNvPr>
            <p:cNvSpPr/>
            <p:nvPr/>
          </p:nvSpPr>
          <p:spPr>
            <a:xfrm rot="10800000">
              <a:off x="1489961" y="3968586"/>
              <a:ext cx="570920" cy="997951"/>
            </a:xfrm>
            <a:prstGeom prst="curvedRightArrow">
              <a:avLst/>
            </a:prstGeom>
            <a:solidFill>
              <a:srgbClr val="0B1C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F7998804-EAB8-46AA-B3E6-E48D35C62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876" y="863644"/>
            <a:ext cx="5206957" cy="5206957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9E9B13E3-4F94-434D-BBBA-51F3506A8D3E}"/>
              </a:ext>
            </a:extLst>
          </p:cNvPr>
          <p:cNvSpPr txBox="1"/>
          <p:nvPr/>
        </p:nvSpPr>
        <p:spPr>
          <a:xfrm>
            <a:off x="1113367" y="728134"/>
            <a:ext cx="1371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能级含时演化图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1FF3E2-2CBF-4908-B34F-9D39D5552775}"/>
              </a:ext>
            </a:extLst>
          </p:cNvPr>
          <p:cNvSpPr txBox="1"/>
          <p:nvPr/>
        </p:nvSpPr>
        <p:spPr>
          <a:xfrm>
            <a:off x="4389966" y="706967"/>
            <a:ext cx="1371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自旋绝热表象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7D4ABF9-3B47-4894-A9C9-1FB44D9A78A6}"/>
              </a:ext>
            </a:extLst>
          </p:cNvPr>
          <p:cNvSpPr txBox="1"/>
          <p:nvPr/>
        </p:nvSpPr>
        <p:spPr>
          <a:xfrm>
            <a:off x="6870701" y="685802"/>
            <a:ext cx="1371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自旋透热表象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E98C787-5DC7-4456-A10A-D2F596F3CAAD}"/>
              </a:ext>
            </a:extLst>
          </p:cNvPr>
          <p:cNvSpPr/>
          <p:nvPr/>
        </p:nvSpPr>
        <p:spPr>
          <a:xfrm>
            <a:off x="182033" y="986367"/>
            <a:ext cx="249767" cy="220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79F9990-6141-4553-AC9D-5B3CF9F513FA}"/>
              </a:ext>
            </a:extLst>
          </p:cNvPr>
          <p:cNvSpPr/>
          <p:nvPr/>
        </p:nvSpPr>
        <p:spPr>
          <a:xfrm>
            <a:off x="190500" y="3395133"/>
            <a:ext cx="249767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6A8D0FF-999F-4250-8690-881D7D0C7473}"/>
              </a:ext>
            </a:extLst>
          </p:cNvPr>
          <p:cNvSpPr txBox="1"/>
          <p:nvPr/>
        </p:nvSpPr>
        <p:spPr>
          <a:xfrm>
            <a:off x="5452534" y="6070600"/>
            <a:ext cx="3441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</a:t>
            </a:r>
            <a:r>
              <a:rPr lang="zh-CN" alt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不能作为微扰，推荐使用自旋绝热表象。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11A8274-52CA-4DAC-B312-A9ED2DA38F9F}"/>
              </a:ext>
            </a:extLst>
          </p:cNvPr>
          <p:cNvSpPr txBox="1"/>
          <p:nvPr/>
        </p:nvSpPr>
        <p:spPr>
          <a:xfrm>
            <a:off x="224366" y="6104466"/>
            <a:ext cx="481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J.H. Xu, Q.J. Zheng, J. Zhao,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Mater. Today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100004 (2024)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51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磁性原子掺杂的单层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谷间散射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84846960-839F-BE4B-B24D-846B3353F0B2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3835CC-602B-442A-9727-F08C94E85C72}"/>
              </a:ext>
            </a:extLst>
          </p:cNvPr>
          <p:cNvSpPr/>
          <p:nvPr/>
        </p:nvSpPr>
        <p:spPr>
          <a:xfrm>
            <a:off x="2859241" y="5713838"/>
            <a:ext cx="213514" cy="125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E932E0E-75BD-4335-A3A7-F0D08B650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1" y="1191813"/>
            <a:ext cx="4354370" cy="452202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0303570-0782-4C28-8235-6E04A3278F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3311" b="52284"/>
          <a:stretch/>
        </p:blipFill>
        <p:spPr>
          <a:xfrm>
            <a:off x="4726049" y="1027716"/>
            <a:ext cx="4066063" cy="329102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24B4353-F58E-41F5-A42F-290E21D0D5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527" t="76090" b="1412"/>
          <a:stretch/>
        </p:blipFill>
        <p:spPr>
          <a:xfrm>
            <a:off x="4277360" y="4544706"/>
            <a:ext cx="4866640" cy="119234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C3E516C-4787-42DF-AB61-5AC2E2CB985E}"/>
              </a:ext>
            </a:extLst>
          </p:cNvPr>
          <p:cNvSpPr txBox="1"/>
          <p:nvPr/>
        </p:nvSpPr>
        <p:spPr>
          <a:xfrm>
            <a:off x="262465" y="6087533"/>
            <a:ext cx="481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J.H. Xu, Q.J. Zheng, J. Zhao, </a:t>
            </a:r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Mater. Today </a:t>
            </a:r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100004 (2024)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0FC23D-EA33-46CF-AD06-155D3E54A237}"/>
              </a:ext>
            </a:extLst>
          </p:cNvPr>
          <p:cNvSpPr txBox="1"/>
          <p:nvPr/>
        </p:nvSpPr>
        <p:spPr>
          <a:xfrm>
            <a:off x="589484" y="719452"/>
            <a:ext cx="4423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磁性原子掺杂的单层</a:t>
            </a:r>
            <a:r>
              <a:rPr lang="en-US" altLang="zh-CN" sz="1600" dirty="0"/>
              <a:t>MoS</a:t>
            </a:r>
            <a:r>
              <a:rPr lang="en-US" altLang="zh-CN" sz="1600" baseline="-25000" dirty="0"/>
              <a:t>2</a:t>
            </a:r>
            <a:r>
              <a:rPr lang="zh-CN" altLang="en-US" sz="1600" dirty="0"/>
              <a:t>谷间散射过程</a:t>
            </a:r>
          </a:p>
        </p:txBody>
      </p:sp>
    </p:spTree>
    <p:extLst>
      <p:ext uri="{BB962C8B-B14F-4D97-AF65-F5344CB8AC3E}">
        <p14:creationId xmlns:p14="http://schemas.microsoft.com/office/powerpoint/2010/main" val="18072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93FECC0-A014-4128-8AAA-1661B80D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3" y="97367"/>
            <a:ext cx="7886700" cy="429156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3FEACC57-6B2F-41DA-813B-8B9C6188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1783" y="6610164"/>
            <a:ext cx="1110949" cy="194397"/>
          </a:xfrm>
        </p:spPr>
        <p:txBody>
          <a:bodyPr/>
          <a:lstStyle/>
          <a:p>
            <a:fld id="{B3822CDC-E581-544C-83E9-EE24BDCD1EB0}" type="datetime1">
              <a:rPr lang="zh-CN" altLang="en-US" smtClean="0">
                <a:solidFill>
                  <a:schemeClr val="accent1">
                    <a:lumMod val="75000"/>
                  </a:schemeClr>
                </a:solidFill>
              </a:rPr>
              <a:t>2025/6/5</a:t>
            </a:fld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4D40AB-EE78-4B02-BDC8-F88ACE5C9952}"/>
              </a:ext>
            </a:extLst>
          </p:cNvPr>
          <p:cNvSpPr txBox="1"/>
          <p:nvPr/>
        </p:nvSpPr>
        <p:spPr>
          <a:xfrm>
            <a:off x="2243125" y="1047745"/>
            <a:ext cx="585686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赵瑾老师主页</a:t>
            </a:r>
            <a:endParaRPr kumimoji="1" lang="en-US" altLang="zh-CN" dirty="0"/>
          </a:p>
          <a:p>
            <a:r>
              <a:rPr kumimoji="1" lang="en-US" altLang="zh-CN" dirty="0">
                <a:hlinkClick r:id="rId3"/>
              </a:rPr>
              <a:t>http://staff.ustc.edu.cn/~zhaojin</a:t>
            </a:r>
            <a:endParaRPr kumimoji="1" lang="en-US" altLang="zh-CN" dirty="0"/>
          </a:p>
          <a:p>
            <a:r>
              <a:rPr kumimoji="1" lang="en-US" altLang="zh-CN" dirty="0">
                <a:hlinkClick r:id="rId4"/>
              </a:rPr>
              <a:t>https://hefei-namd.org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Hefei-NAMD</a:t>
            </a:r>
          </a:p>
          <a:p>
            <a:r>
              <a:rPr lang="en" altLang="zh-CN" dirty="0">
                <a:hlinkClick r:id="rId5"/>
              </a:rPr>
              <a:t>https://github.com/QijingZheng/Hefei-NAMD</a:t>
            </a:r>
            <a:endParaRPr lang="en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蔻享社区</a:t>
            </a:r>
            <a:r>
              <a:rPr kumimoji="1" lang="en-US" altLang="zh-CN" dirty="0"/>
              <a:t>: </a:t>
            </a:r>
            <a:r>
              <a:rPr kumimoji="1" lang="zh-CN" altLang="en-US" dirty="0"/>
              <a:t>物理学</a:t>
            </a:r>
            <a:r>
              <a:rPr kumimoji="1" lang="en-US" altLang="zh-CN" dirty="0"/>
              <a:t>/Hefei-NAMD</a:t>
            </a:r>
            <a:r>
              <a:rPr kumimoji="1" lang="zh-CN" altLang="en-US" dirty="0"/>
              <a:t>板块</a:t>
            </a:r>
            <a:endParaRPr kumimoji="1" lang="en" altLang="zh-CN" dirty="0"/>
          </a:p>
          <a:p>
            <a:r>
              <a:rPr kumimoji="1" lang="zh-CN" altLang="en" dirty="0"/>
              <a:t>网址</a:t>
            </a:r>
            <a:r>
              <a:rPr kumimoji="1" lang="en-US" altLang="zh-CN" dirty="0"/>
              <a:t>: </a:t>
            </a:r>
            <a:r>
              <a:rPr kumimoji="1" lang="en" altLang="zh-CN" dirty="0">
                <a:hlinkClick r:id="rId6"/>
              </a:rPr>
              <a:t>http://bbs.koushare.com</a:t>
            </a:r>
            <a:endParaRPr kumimoji="1" lang="en" altLang="zh-CN" dirty="0"/>
          </a:p>
          <a:p>
            <a:endParaRPr kumimoji="1" lang="en" altLang="zh-CN" dirty="0"/>
          </a:p>
          <a:p>
            <a:r>
              <a:rPr kumimoji="1" lang="zh-CN" altLang="en" dirty="0"/>
              <a:t>往期</a:t>
            </a:r>
            <a:r>
              <a:rPr kumimoji="1" lang="zh-CN" altLang="en-US" dirty="0"/>
              <a:t>培训</a:t>
            </a:r>
            <a:endParaRPr kumimoji="1" lang="en-US" altLang="zh-CN" dirty="0"/>
          </a:p>
          <a:p>
            <a:r>
              <a:rPr lang="zh-CN" altLang="en-US" dirty="0"/>
              <a:t>郑奇靖 </a:t>
            </a:r>
            <a:r>
              <a:rPr lang="en-US" altLang="zh-CN" dirty="0"/>
              <a:t>| </a:t>
            </a:r>
            <a:r>
              <a:rPr lang="en" altLang="zh-CN" dirty="0"/>
              <a:t>Hefei-NAMD Training Session 2020/12/03</a:t>
            </a:r>
          </a:p>
          <a:p>
            <a:r>
              <a:rPr lang="en" altLang="zh-CN" dirty="0">
                <a:hlinkClick r:id="rId7"/>
              </a:rPr>
              <a:t>http://staff.ustc.edu.cn/~zqj/posts/Hefei-NAMD-Training/</a:t>
            </a:r>
            <a:endParaRPr kumimoji="1" lang="en" altLang="zh-CN" dirty="0"/>
          </a:p>
          <a:p>
            <a:pPr fontAlgn="base"/>
            <a:r>
              <a:rPr lang="zh-CN" altLang="en-US" dirty="0"/>
              <a:t>褚维斌 </a:t>
            </a:r>
            <a:r>
              <a:rPr lang="en-US" altLang="zh-CN" dirty="0"/>
              <a:t>| </a:t>
            </a:r>
            <a:r>
              <a:rPr lang="en" altLang="zh-CN" dirty="0"/>
              <a:t>Hefei-NAMD </a:t>
            </a:r>
            <a:r>
              <a:rPr lang="zh-CN" altLang="en-US" dirty="0"/>
              <a:t>使用的一些经验</a:t>
            </a:r>
            <a:r>
              <a:rPr lang="en-US" altLang="zh-CN" dirty="0"/>
              <a:t> 2021/05/10</a:t>
            </a:r>
          </a:p>
          <a:p>
            <a:pPr fontAlgn="base"/>
            <a:r>
              <a:rPr lang="en" altLang="zh-CN" dirty="0">
                <a:hlinkClick r:id="rId8"/>
              </a:rPr>
              <a:t>https://www.koushare.com/video/videodetail/11720</a:t>
            </a:r>
            <a:endParaRPr lang="zh-CN" altLang="en-US" dirty="0"/>
          </a:p>
          <a:p>
            <a:pPr fontAlgn="base"/>
            <a:r>
              <a:rPr lang="zh-CN" altLang="en-US" dirty="0"/>
              <a:t>蒋翔 </a:t>
            </a:r>
            <a:r>
              <a:rPr lang="en-US" altLang="zh-CN" dirty="0"/>
              <a:t>| </a:t>
            </a:r>
            <a:r>
              <a:rPr lang="en" altLang="zh-CN" dirty="0"/>
              <a:t>Exciton Dynamics based on Hefei-NAMD</a:t>
            </a:r>
            <a:r>
              <a:rPr lang="zh-CN" altLang="en-US" dirty="0"/>
              <a:t> </a:t>
            </a:r>
            <a:r>
              <a:rPr lang="en" altLang="zh-CN" dirty="0"/>
              <a:t> 2021/05/10</a:t>
            </a:r>
          </a:p>
          <a:p>
            <a:pPr fontAlgn="base"/>
            <a:r>
              <a:rPr lang="en" altLang="zh-CN" dirty="0">
                <a:hlinkClick r:id="rId9"/>
              </a:rPr>
              <a:t>https://www.koushare.com/video/videodetail/11721</a:t>
            </a:r>
            <a:endParaRPr lang="en" altLang="zh-CN" dirty="0"/>
          </a:p>
          <a:p>
            <a:pPr fontAlgn="base"/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21166588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61223</TotalTime>
  <Words>1748</Words>
  <Application>Microsoft Macintosh PowerPoint</Application>
  <PresentationFormat>全屏显示(4:3)</PresentationFormat>
  <Paragraphs>247</Paragraphs>
  <Slides>19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1_Office 主题</vt:lpstr>
      <vt:lpstr>AxMath</vt:lpstr>
      <vt:lpstr>Hefei-NAMD SOC 培训</vt:lpstr>
      <vt:lpstr>FSSH Combined with TDDFT</vt:lpstr>
      <vt:lpstr>Electronic Time-dependent Schrödinger Equation</vt:lpstr>
      <vt:lpstr>Spin-diabatic Representation</vt:lpstr>
      <vt:lpstr>Spin-adiabatic Representation</vt:lpstr>
      <vt:lpstr>Spin-orbit Couplings in DFT</vt:lpstr>
      <vt:lpstr>Work Flow</vt:lpstr>
      <vt:lpstr>MD</vt:lpstr>
      <vt:lpstr>程序安装</vt:lpstr>
      <vt:lpstr>静态计算</vt:lpstr>
      <vt:lpstr>NAMD</vt:lpstr>
      <vt:lpstr>NAMD 输入文件</vt:lpstr>
      <vt:lpstr>NAMD 输入文件</vt:lpstr>
      <vt:lpstr>NAMD 数据处理</vt:lpstr>
      <vt:lpstr>研究1: Ni退磁</vt:lpstr>
      <vt:lpstr>研究1: Ni退磁</vt:lpstr>
      <vt:lpstr>研究2: 磁性原子掺杂的单层MoS2谷间散射</vt:lpstr>
      <vt:lpstr>研究2: 磁性原子掺杂的单层MoS2谷间散射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教务处PPT模板002</dc:title>
  <dc:creator>现代教育技术中心</dc:creator>
  <cp:lastModifiedBy>Microsoft Office User</cp:lastModifiedBy>
  <cp:revision>998</cp:revision>
  <dcterms:created xsi:type="dcterms:W3CDTF">2019-09-09T14:12:04Z</dcterms:created>
  <dcterms:modified xsi:type="dcterms:W3CDTF">2025-06-05T06:08:18Z</dcterms:modified>
</cp:coreProperties>
</file>